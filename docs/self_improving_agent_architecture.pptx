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7"/>
    <p:restoredTop sz="94641"/>
  </p:normalViewPr>
  <p:slideViewPr>
    <p:cSldViewPr snapToGrid="0" snapToObjects="1">
      <p:cViewPr varScale="1">
        <p:scale>
          <a:sx n="122" d="100"/>
          <a:sy n="122" d="100"/>
        </p:scale>
        <p:origin x="1256" y="4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325880"/>
            <a:ext cx="10972800" cy="1280160"/>
          </a:xfrm>
          <a:prstGeom prst="rect">
            <a:avLst/>
          </a:prstGeom>
          <a:noFill/>
        </p:spPr>
        <p:txBody>
          <a:bodyPr wrap="none">
            <a:spAutoFit/>
          </a:bodyPr>
          <a:lstStyle/>
          <a:p>
            <a:r>
              <a:rPr sz="2800" b="1">
                <a:solidFill>
                  <a:srgbClr val="0E2240"/>
                </a:solidFill>
                <a:latin typeface="Aptos Display"/>
              </a:rPr>
              <a:t>Architecture of the Self-Improving Agent</a:t>
            </a:r>
          </a:p>
          <a:p>
            <a:r>
              <a:rPr sz="1500">
                <a:solidFill>
                  <a:srgbClr val="4C5B6A"/>
                </a:solidFill>
                <a:latin typeface="Aptos"/>
              </a:rPr>
              <a:t>How the reusable evoagent framework, the harness layer, and the evolving context work together</a:t>
            </a:r>
          </a:p>
        </p:txBody>
      </p:sp>
      <p:sp>
        <p:nvSpPr>
          <p:cNvPr id="4" name="Rounded Rectangle 3"/>
          <p:cNvSpPr/>
          <p:nvPr/>
        </p:nvSpPr>
        <p:spPr>
          <a:xfrm>
            <a:off x="640080" y="2743200"/>
            <a:ext cx="3520440" cy="2240280"/>
          </a:xfrm>
          <a:prstGeom prst="roundRect">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E2240"/>
                </a:solidFill>
                <a:latin typeface="Aptos"/>
              </a:rPr>
              <a:t>Design Objective</a:t>
            </a:r>
          </a:p>
          <a:p>
            <a:r>
              <a:rPr sz="1100">
                <a:solidFill>
                  <a:srgbClr val="1F2937"/>
                </a:solidFill>
                <a:latin typeface="Aptos"/>
              </a:rPr>
              <a:t>Keep the model fixed; evolve the system around it.</a:t>
            </a:r>
          </a:p>
          <a:p>
            <a:r>
              <a:rPr sz="1100">
                <a:solidFill>
                  <a:srgbClr val="1F2937"/>
                </a:solidFill>
                <a:latin typeface="Aptos"/>
              </a:rPr>
              <a:t>Reuse generic agent-improvement patterns via evoagent.</a:t>
            </a:r>
          </a:p>
          <a:p>
            <a:r>
              <a:rPr sz="1100">
                <a:solidFill>
                  <a:srgbClr val="1F2937"/>
                </a:solidFill>
                <a:latin typeface="Aptos"/>
              </a:rPr>
              <a:t>Continuously learn from real user runs instead of one-off eval sweeps.</a:t>
            </a:r>
          </a:p>
        </p:txBody>
      </p:sp>
      <p:sp>
        <p:nvSpPr>
          <p:cNvPr id="5" name="Rounded Rectangle 4"/>
          <p:cNvSpPr/>
          <p:nvPr/>
        </p:nvSpPr>
        <p:spPr>
          <a:xfrm>
            <a:off x="4343400" y="2743200"/>
            <a:ext cx="3520440" cy="2240280"/>
          </a:xfrm>
          <a:prstGeom prst="roundRect">
            <a:avLst/>
          </a:prstGeom>
          <a:solidFill>
            <a:srgbClr val="E1EFFF"/>
          </a:solidFill>
          <a:ln>
            <a:solidFill>
              <a:srgbClr val="E1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E2240"/>
                </a:solidFill>
                <a:latin typeface="Aptos"/>
              </a:rPr>
              <a:t>Three Learning Surfaces</a:t>
            </a:r>
          </a:p>
          <a:p>
            <a:r>
              <a:rPr sz="1100">
                <a:solidFill>
                  <a:srgbClr val="1F2937"/>
                </a:solidFill>
                <a:latin typeface="Aptos"/>
              </a:rPr>
              <a:t>Harness: middleware, tool parameters, completion checks.</a:t>
            </a:r>
          </a:p>
          <a:p>
            <a:r>
              <a:rPr sz="1100">
                <a:solidFill>
                  <a:srgbClr val="1F2937"/>
                </a:solidFill>
                <a:latin typeface="Aptos"/>
              </a:rPr>
              <a:t>Context: prompts, skills, episodic memory, semantic memory.</a:t>
            </a:r>
          </a:p>
          <a:p>
            <a:r>
              <a:rPr sz="1100">
                <a:solidFill>
                  <a:srgbClr val="1F2937"/>
                </a:solidFill>
                <a:latin typeface="Aptos"/>
              </a:rPr>
              <a:t>Outer loop: structural code changes when the inner loop plateaus.</a:t>
            </a:r>
          </a:p>
        </p:txBody>
      </p:sp>
      <p:sp>
        <p:nvSpPr>
          <p:cNvPr id="6" name="Rounded Rectangle 5"/>
          <p:cNvSpPr/>
          <p:nvPr/>
        </p:nvSpPr>
        <p:spPr>
          <a:xfrm>
            <a:off x="8046720" y="2743200"/>
            <a:ext cx="3520440" cy="2240280"/>
          </a:xfrm>
          <a:prstGeom prst="roundRect">
            <a:avLst/>
          </a:prstGeom>
          <a:solidFill>
            <a:srgbClr val="E3F3EE"/>
          </a:solidFill>
          <a:ln>
            <a:solidFill>
              <a:srgbClr val="E3F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E2240"/>
                </a:solidFill>
                <a:latin typeface="Aptos"/>
              </a:rPr>
              <a:t>Core Data Plane</a:t>
            </a:r>
          </a:p>
          <a:p>
            <a:r>
              <a:rPr sz="1100">
                <a:solidFill>
                  <a:srgbClr val="1F2937"/>
                </a:solidFill>
                <a:latin typeface="Aptos"/>
              </a:rPr>
              <a:t>LangSmith traces + local traces capture what happened.</a:t>
            </a:r>
          </a:p>
          <a:p>
            <a:r>
              <a:rPr sz="1100">
                <a:solidFill>
                  <a:srgbClr val="1F2937"/>
                </a:solidFill>
                <a:latin typeface="Aptos"/>
              </a:rPr>
              <a:t>Graders produce numerical and textual feedback.</a:t>
            </a:r>
          </a:p>
          <a:p>
            <a:r>
              <a:rPr sz="1100">
                <a:solidFill>
                  <a:srgbClr val="1F2937"/>
                </a:solidFill>
                <a:latin typeface="Aptos"/>
              </a:rPr>
              <a:t>Run log and version stores turn traces into durable learning signal.</a:t>
            </a:r>
          </a:p>
        </p:txBody>
      </p:sp>
      <p:sp>
        <p:nvSpPr>
          <p:cNvPr id="7" name="TextBox 6"/>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Generated from current repository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Research Lineage</a:t>
            </a:r>
          </a:p>
          <a:p>
            <a:r>
              <a:rPr sz="1200">
                <a:solidFill>
                  <a:srgbClr val="4C5B6A"/>
                </a:solidFill>
                <a:latin typeface="Aptos"/>
              </a:rPr>
              <a:t>The implementation combines ideas from three reference directions plus LangSmith trace instrumentation.</a:t>
            </a:r>
          </a:p>
        </p:txBody>
      </p:sp>
      <p:sp>
        <p:nvSpPr>
          <p:cNvPr id="3" name="Rounded Rectangle 2"/>
          <p:cNvSpPr/>
          <p:nvPr/>
        </p:nvSpPr>
        <p:spPr>
          <a:xfrm>
            <a:off x="502920" y="1234440"/>
            <a:ext cx="3657600" cy="1508760"/>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280160"/>
            <a:ext cx="3566160"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Karpathy autoresearch</a:t>
            </a:r>
          </a:p>
        </p:txBody>
      </p:sp>
      <p:sp>
        <p:nvSpPr>
          <p:cNvPr id="5" name="TextBox 4"/>
          <p:cNvSpPr txBox="1"/>
          <p:nvPr/>
        </p:nvSpPr>
        <p:spPr>
          <a:xfrm>
            <a:off x="630936" y="1664208"/>
            <a:ext cx="3401568" cy="1033271"/>
          </a:xfrm>
          <a:prstGeom prst="rect">
            <a:avLst/>
          </a:prstGeom>
          <a:noFill/>
        </p:spPr>
        <p:txBody>
          <a:bodyPr wrap="square">
            <a:spAutoFit/>
          </a:bodyPr>
          <a:lstStyle/>
          <a:p>
            <a:pPr algn="l"/>
            <a:r>
              <a:rPr sz="1050">
                <a:solidFill>
                  <a:srgbClr val="1F2937"/>
                </a:solidFill>
                <a:latin typeface="Aptos"/>
              </a:rPr>
              <a:t>Outer loop around a real task.</a:t>
            </a:r>
          </a:p>
          <a:p>
            <a:pPr algn="l"/>
            <a:r>
              <a:rPr sz="1050">
                <a:solidFill>
                  <a:srgbClr val="1F2937"/>
                </a:solidFill>
                <a:latin typeface="Aptos"/>
              </a:rPr>
              <a:t>Agent proposes improvements, evaluates them, keeps what works.</a:t>
            </a:r>
          </a:p>
          <a:p>
            <a:pPr algn="l"/>
            <a:r>
              <a:rPr sz="1050">
                <a:solidFill>
                  <a:srgbClr val="1F2937"/>
                </a:solidFill>
                <a:latin typeface="Aptos"/>
              </a:rPr>
              <a:t>This project adapts that pattern into continuous agent improvement rather than GPU training.</a:t>
            </a:r>
          </a:p>
        </p:txBody>
      </p:sp>
      <p:sp>
        <p:nvSpPr>
          <p:cNvPr id="6" name="Rounded Rectangle 5"/>
          <p:cNvSpPr/>
          <p:nvPr/>
        </p:nvSpPr>
        <p:spPr>
          <a:xfrm>
            <a:off x="4270248" y="1234440"/>
            <a:ext cx="3657600" cy="1508760"/>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15968" y="1280160"/>
            <a:ext cx="3566160"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Meta-Harness</a:t>
            </a:r>
          </a:p>
        </p:txBody>
      </p:sp>
      <p:sp>
        <p:nvSpPr>
          <p:cNvPr id="8" name="TextBox 7"/>
          <p:cNvSpPr txBox="1"/>
          <p:nvPr/>
        </p:nvSpPr>
        <p:spPr>
          <a:xfrm>
            <a:off x="4398264" y="1664208"/>
            <a:ext cx="3401568" cy="1033271"/>
          </a:xfrm>
          <a:prstGeom prst="rect">
            <a:avLst/>
          </a:prstGeom>
          <a:noFill/>
        </p:spPr>
        <p:txBody>
          <a:bodyPr wrap="square">
            <a:spAutoFit/>
          </a:bodyPr>
          <a:lstStyle/>
          <a:p>
            <a:pPr algn="l"/>
            <a:r>
              <a:rPr sz="1050">
                <a:solidFill>
                  <a:srgbClr val="1F2937"/>
                </a:solidFill>
                <a:latin typeface="Aptos"/>
              </a:rPr>
              <a:t>Optimize the harness using execution traces, scores, and prior versions.</a:t>
            </a:r>
          </a:p>
          <a:p>
            <a:pPr algn="l"/>
            <a:r>
              <a:rPr sz="1050">
                <a:solidFill>
                  <a:srgbClr val="1F2937"/>
                </a:solidFill>
                <a:latin typeface="Aptos"/>
              </a:rPr>
              <a:t>This project adopts trace-driven diagnosis and safe proposal selection, but does it continuously from live runs.</a:t>
            </a:r>
          </a:p>
        </p:txBody>
      </p:sp>
      <p:sp>
        <p:nvSpPr>
          <p:cNvPr id="9" name="Rounded Rectangle 8"/>
          <p:cNvSpPr/>
          <p:nvPr/>
        </p:nvSpPr>
        <p:spPr>
          <a:xfrm>
            <a:off x="8037575" y="1234440"/>
            <a:ext cx="3657600" cy="150876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83296" y="1280160"/>
            <a:ext cx="356616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Continual learning for agents</a:t>
            </a:r>
          </a:p>
        </p:txBody>
      </p:sp>
      <p:sp>
        <p:nvSpPr>
          <p:cNvPr id="11" name="TextBox 10"/>
          <p:cNvSpPr txBox="1"/>
          <p:nvPr/>
        </p:nvSpPr>
        <p:spPr>
          <a:xfrm>
            <a:off x="8165592" y="1664208"/>
            <a:ext cx="3401568" cy="1033271"/>
          </a:xfrm>
          <a:prstGeom prst="rect">
            <a:avLst/>
          </a:prstGeom>
          <a:noFill/>
        </p:spPr>
        <p:txBody>
          <a:bodyPr wrap="square">
            <a:spAutoFit/>
          </a:bodyPr>
          <a:lstStyle/>
          <a:p>
            <a:pPr algn="l"/>
            <a:r>
              <a:rPr sz="1050">
                <a:solidFill>
                  <a:srgbClr val="1F2937"/>
                </a:solidFill>
                <a:latin typeface="Aptos"/>
              </a:rPr>
              <a:t>Separate model, harness, and context as distinct learning surfaces.</a:t>
            </a:r>
          </a:p>
          <a:p>
            <a:pPr algn="l"/>
            <a:r>
              <a:rPr sz="1050">
                <a:solidFill>
                  <a:srgbClr val="1F2937"/>
                </a:solidFill>
                <a:latin typeface="Aptos"/>
              </a:rPr>
              <a:t>This project mainly learns in token space: prompts, skills, and memory.</a:t>
            </a:r>
          </a:p>
        </p:txBody>
      </p:sp>
      <p:sp>
        <p:nvSpPr>
          <p:cNvPr id="12" name="Rounded Rectangle 11"/>
          <p:cNvSpPr/>
          <p:nvPr/>
        </p:nvSpPr>
        <p:spPr>
          <a:xfrm>
            <a:off x="777240" y="3154680"/>
            <a:ext cx="10972800" cy="2240280"/>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960" y="3200400"/>
            <a:ext cx="10881360" cy="329184"/>
          </a:xfrm>
          <a:prstGeom prst="round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Project-specific synthesis</a:t>
            </a:r>
          </a:p>
        </p:txBody>
      </p:sp>
      <p:sp>
        <p:nvSpPr>
          <p:cNvPr id="14" name="TextBox 13"/>
          <p:cNvSpPr txBox="1"/>
          <p:nvPr/>
        </p:nvSpPr>
        <p:spPr>
          <a:xfrm>
            <a:off x="905256" y="3584448"/>
            <a:ext cx="10716768" cy="1764792"/>
          </a:xfrm>
          <a:prstGeom prst="rect">
            <a:avLst/>
          </a:prstGeom>
          <a:noFill/>
        </p:spPr>
        <p:txBody>
          <a:bodyPr wrap="square">
            <a:spAutoFit/>
          </a:bodyPr>
          <a:lstStyle/>
          <a:p>
            <a:pPr algn="l"/>
            <a:r>
              <a:rPr sz="1050">
                <a:solidFill>
                  <a:srgbClr val="1F2937"/>
                </a:solidFill>
                <a:latin typeface="Aptos"/>
              </a:rPr>
              <a:t>1. `evoagent/` packages the reusable framework: protocols, memory, skills, middleware, grading, tracing, and offline evolution helpers.</a:t>
            </a:r>
          </a:p>
          <a:p>
            <a:pPr algn="l"/>
            <a:r>
              <a:rPr sz="1050">
                <a:solidFill>
                  <a:srgbClr val="1F2937"/>
                </a:solidFill>
                <a:latin typeface="Aptos"/>
              </a:rPr>
              <a:t>2. `src/` wires that framework into a research agent built on `deepagents`.</a:t>
            </a:r>
          </a:p>
          <a:p>
            <a:pPr algn="l"/>
            <a:r>
              <a:rPr sz="1050">
                <a:solidFill>
                  <a:srgbClr val="1F2937"/>
                </a:solidFill>
                <a:latin typeface="Aptos"/>
              </a:rPr>
              <a:t>3. `src/evolution/daemon.py` is the always-on optimizer that consumes real run results.</a:t>
            </a:r>
          </a:p>
          <a:p>
            <a:pPr algn="l"/>
            <a:r>
              <a:rPr sz="1050">
                <a:solidFill>
                  <a:srgbClr val="1F2937"/>
                </a:solidFill>
                <a:latin typeface="Aptos"/>
              </a:rPr>
              <a:t>4. LangSmith traces enrich both prompt optimization and harness optimization with higher-fidelity execution evidence.</a:t>
            </a:r>
          </a:p>
        </p:txBody>
      </p:sp>
      <p:sp>
        <p:nvSpPr>
          <p:cNvPr id="15" name="Rounded Rectangle 14"/>
          <p:cNvSpPr/>
          <p:nvPr/>
        </p:nvSpPr>
        <p:spPr>
          <a:xfrm>
            <a:off x="4160520" y="5623560"/>
            <a:ext cx="3840480" cy="411480"/>
          </a:xfrm>
          <a:prstGeom prst="round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ptos"/>
              </a:rPr>
              <a:t>Key idea: traces are the common currency</a:t>
            </a:r>
          </a:p>
        </p:txBody>
      </p:sp>
      <p:sp>
        <p:nvSpPr>
          <p:cNvPr id="16" name="TextBox 15"/>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Refs: Meta-Harness, LangChain continual learning, karpathy/autoresearch, LangSmith traces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Reusable evoagent Design</a:t>
            </a:r>
          </a:p>
          <a:p>
            <a:r>
              <a:rPr sz="1200">
                <a:solidFill>
                  <a:srgbClr val="4C5B6A"/>
                </a:solidFill>
                <a:latin typeface="Aptos"/>
              </a:rPr>
              <a:t>The framework is intentionally layered so other agent types can reuse only the pieces they need.</a:t>
            </a:r>
          </a:p>
        </p:txBody>
      </p:sp>
      <p:sp>
        <p:nvSpPr>
          <p:cNvPr id="3" name="Rounded Rectangle 2"/>
          <p:cNvSpPr/>
          <p:nvPr/>
        </p:nvSpPr>
        <p:spPr>
          <a:xfrm>
            <a:off x="594360" y="1325880"/>
            <a:ext cx="10972800" cy="822960"/>
          </a:xfrm>
          <a:prstGeom prst="roundRect">
            <a:avLst/>
          </a:prstGeom>
          <a:solidFill>
            <a:srgbClr val="FFFFFF"/>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371600"/>
            <a:ext cx="10881360" cy="329184"/>
          </a:xfrm>
          <a:prstGeom prst="roundRect">
            <a:avLst/>
          </a:prstGeom>
          <a:solidFill>
            <a:srgbClr val="4C5B6A"/>
          </a:solidFill>
          <a:ln>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Layering principle</a:t>
            </a:r>
          </a:p>
        </p:txBody>
      </p:sp>
      <p:sp>
        <p:nvSpPr>
          <p:cNvPr id="5" name="TextBox 4"/>
          <p:cNvSpPr txBox="1"/>
          <p:nvPr/>
        </p:nvSpPr>
        <p:spPr>
          <a:xfrm>
            <a:off x="722376" y="1755648"/>
            <a:ext cx="10716768" cy="210311"/>
          </a:xfrm>
          <a:prstGeom prst="rect">
            <a:avLst/>
          </a:prstGeom>
          <a:noFill/>
        </p:spPr>
        <p:txBody>
          <a:bodyPr wrap="square">
            <a:spAutoFit/>
          </a:bodyPr>
          <a:lstStyle/>
          <a:p>
            <a:pPr algn="l"/>
            <a:r>
              <a:rPr sz="1050" dirty="0">
                <a:solidFill>
                  <a:srgbClr val="1F2937"/>
                </a:solidFill>
                <a:latin typeface="Aptos"/>
              </a:rPr>
              <a:t>Layer 0: protocols and types. Layer 1: memory and skills. Layer 2: harness, graders, tracing. Layer 3: evolution utilities. The application code in `</a:t>
            </a:r>
            <a:r>
              <a:rPr sz="1050" dirty="0" err="1">
                <a:solidFill>
                  <a:srgbClr val="1F2937"/>
                </a:solidFill>
                <a:latin typeface="Aptos"/>
              </a:rPr>
              <a:t>src</a:t>
            </a:r>
            <a:r>
              <a:rPr sz="1050" dirty="0">
                <a:solidFill>
                  <a:srgbClr val="1F2937"/>
                </a:solidFill>
                <a:latin typeface="Aptos"/>
              </a:rPr>
              <a:t>/` sits above this and supplies the domain-specific agent factory, prompts, tools, and CLI.</a:t>
            </a:r>
          </a:p>
        </p:txBody>
      </p:sp>
      <p:sp>
        <p:nvSpPr>
          <p:cNvPr id="6" name="Rounded Rectangle 5"/>
          <p:cNvSpPr/>
          <p:nvPr/>
        </p:nvSpPr>
        <p:spPr>
          <a:xfrm>
            <a:off x="594360" y="2240280"/>
            <a:ext cx="2651760" cy="2971800"/>
          </a:xfrm>
          <a:prstGeom prst="roundRect">
            <a:avLst/>
          </a:prstGeom>
          <a:solidFill>
            <a:srgbClr val="E9F2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Layer 0
`evoagent/core/`</a:t>
            </a:r>
          </a:p>
          <a:p>
            <a:r>
              <a:rPr sz="1050">
                <a:solidFill>
                  <a:srgbClr val="1F2937"/>
                </a:solidFill>
                <a:latin typeface="Aptos"/>
              </a:rPr>
              <a:t>Shared types such as `GraderResult`, `TaskResult`, `TrajectoryMetrics`.</a:t>
            </a:r>
          </a:p>
          <a:p>
            <a:r>
              <a:rPr sz="1050">
                <a:solidFill>
                  <a:srgbClr val="1F2937"/>
                </a:solidFill>
                <a:latin typeface="Aptos"/>
              </a:rPr>
              <a:t>Protocols such as `Grader`, `AgentFactory`, `MemoryBackend`, `SkillStore`, `PromptStore`, `MiddlewareHook`.</a:t>
            </a:r>
          </a:p>
          <a:p>
            <a:r>
              <a:rPr sz="1050">
                <a:solidFill>
                  <a:srgbClr val="1F2937"/>
                </a:solidFill>
                <a:latin typeface="Aptos"/>
              </a:rPr>
              <a:t>This is what makes the package composable.</a:t>
            </a:r>
          </a:p>
        </p:txBody>
      </p:sp>
      <p:sp>
        <p:nvSpPr>
          <p:cNvPr id="7" name="Rounded Rectangle 6"/>
          <p:cNvSpPr/>
          <p:nvPr/>
        </p:nvSpPr>
        <p:spPr>
          <a:xfrm>
            <a:off x="3456432" y="2240280"/>
            <a:ext cx="2651760" cy="2971800"/>
          </a:xfrm>
          <a:prstGeom prst="roundRect">
            <a:avLst/>
          </a:prstGeom>
          <a:solidFill>
            <a:srgbClr val="E2F4F1"/>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Layer 1
Memory + Skills</a:t>
            </a:r>
          </a:p>
          <a:p>
            <a:r>
              <a:rPr sz="1050">
                <a:solidFill>
                  <a:srgbClr val="1F2937"/>
                </a:solidFill>
                <a:latin typeface="Aptos"/>
              </a:rPr>
              <a:t>File-backed memory namespaces.</a:t>
            </a:r>
          </a:p>
          <a:p>
            <a:r>
              <a:rPr sz="1050">
                <a:solidFill>
                  <a:srgbClr val="1F2937"/>
                </a:solidFill>
                <a:latin typeface="Aptos"/>
              </a:rPr>
              <a:t>Context compression and semantic dedup.</a:t>
            </a:r>
          </a:p>
          <a:p>
            <a:r>
              <a:rPr sz="1050">
                <a:solidFill>
                  <a:srgbClr val="1F2937"/>
                </a:solidFill>
                <a:latin typeface="Aptos"/>
              </a:rPr>
              <a:t>SKILL.md discovery, creation, validation, and extraction from runs.</a:t>
            </a:r>
          </a:p>
        </p:txBody>
      </p:sp>
      <p:sp>
        <p:nvSpPr>
          <p:cNvPr id="8" name="Rounded Rectangle 7"/>
          <p:cNvSpPr/>
          <p:nvPr/>
        </p:nvSpPr>
        <p:spPr>
          <a:xfrm>
            <a:off x="6318504" y="2240280"/>
            <a:ext cx="2651760" cy="2971800"/>
          </a:xfrm>
          <a:prstGeom prst="roundRect">
            <a:avLst/>
          </a:prstGeom>
          <a:solidFill>
            <a:srgbClr val="FFF4E2"/>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Layer 2
Harness + Tracing + Grading</a:t>
            </a:r>
          </a:p>
          <a:p>
            <a:r>
              <a:rPr sz="1050">
                <a:solidFill>
                  <a:srgbClr val="1F2937"/>
                </a:solidFill>
                <a:latin typeface="Aptos"/>
              </a:rPr>
              <a:t>Middleware for self-verification, context injection, loop detection, time budget, reasoning phases, trace capture.</a:t>
            </a:r>
          </a:p>
          <a:p>
            <a:r>
              <a:rPr sz="1050">
                <a:solidFill>
                  <a:srgbClr val="1F2937"/>
                </a:solidFill>
                <a:latin typeface="Aptos"/>
              </a:rPr>
              <a:t>Trace capture/fetching.</a:t>
            </a:r>
          </a:p>
          <a:p>
            <a:r>
              <a:rPr sz="1050">
                <a:solidFill>
                  <a:srgbClr val="1F2937"/>
                </a:solidFill>
                <a:latin typeface="Aptos"/>
              </a:rPr>
              <a:t>Evaluation surfaces for quality, efficiency, task completion, and verification.</a:t>
            </a:r>
          </a:p>
        </p:txBody>
      </p:sp>
      <p:sp>
        <p:nvSpPr>
          <p:cNvPr id="9" name="Rounded Rectangle 8"/>
          <p:cNvSpPr/>
          <p:nvPr/>
        </p:nvSpPr>
        <p:spPr>
          <a:xfrm>
            <a:off x="9180576" y="2240280"/>
            <a:ext cx="2377440" cy="2971800"/>
          </a:xfrm>
          <a:prstGeom prst="roundRect">
            <a:avLst/>
          </a:prstGeom>
          <a:solidFill>
            <a:srgbClr val="F8E6E7"/>
          </a:solidFill>
          <a:ln w="16510">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Layer 3
Evolution</a:t>
            </a:r>
          </a:p>
          <a:p>
            <a:r>
              <a:rPr sz="1050">
                <a:solidFill>
                  <a:srgbClr val="1F2937"/>
                </a:solidFill>
                <a:latin typeface="Aptos"/>
              </a:rPr>
              <a:t>Prompt optimization.</a:t>
            </a:r>
          </a:p>
          <a:p>
            <a:r>
              <a:rPr sz="1050">
                <a:solidFill>
                  <a:srgbClr val="1F2937"/>
                </a:solidFill>
                <a:latin typeface="Aptos"/>
              </a:rPr>
              <a:t>Error analysis.</a:t>
            </a:r>
          </a:p>
          <a:p>
            <a:r>
              <a:rPr sz="1050">
                <a:solidFill>
                  <a:srgbClr val="1F2937"/>
                </a:solidFill>
                <a:latin typeface="Aptos"/>
              </a:rPr>
              <a:t>Sleep review.</a:t>
            </a:r>
          </a:p>
          <a:p>
            <a:r>
              <a:rPr sz="1050">
                <a:solidFill>
                  <a:srgbClr val="1F2937"/>
                </a:solidFill>
                <a:latin typeface="Aptos"/>
              </a:rPr>
              <a:t>Batch evolution helpers for propose-run-grade-accept loops.</a:t>
            </a:r>
          </a:p>
        </p:txBody>
      </p:sp>
      <p:sp>
        <p:nvSpPr>
          <p:cNvPr id="10" name="TextBox 9"/>
          <p:cNvSpPr txBox="1"/>
          <p:nvPr/>
        </p:nvSpPr>
        <p:spPr>
          <a:xfrm>
            <a:off x="502920" y="6421820"/>
            <a:ext cx="10972800" cy="274320"/>
          </a:xfrm>
          <a:prstGeom prst="rect">
            <a:avLst/>
          </a:prstGeom>
          <a:noFill/>
        </p:spPr>
        <p:txBody>
          <a:bodyPr wrap="none">
            <a:spAutoFit/>
          </a:bodyPr>
          <a:lstStyle/>
          <a:p>
            <a:pPr algn="r"/>
            <a:r>
              <a:rPr sz="900">
                <a:solidFill>
                  <a:srgbClr val="4C5B6A"/>
                </a:solidFill>
                <a:latin typeface="Aptos"/>
              </a:rPr>
              <a:t>Main framework boundary: everything under `evoagent/` is reusable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Application Runtime Architecture</a:t>
            </a:r>
          </a:p>
          <a:p>
            <a:r>
              <a:rPr sz="1200">
                <a:solidFill>
                  <a:srgbClr val="4C5B6A"/>
                </a:solidFill>
                <a:latin typeface="Aptos"/>
              </a:rPr>
              <a:t>The `src/` package specializes the framework into a self-improving research agent.</a:t>
            </a:r>
          </a:p>
        </p:txBody>
      </p:sp>
      <p:sp>
        <p:nvSpPr>
          <p:cNvPr id="3" name="Rounded Rectangle 2"/>
          <p:cNvSpPr/>
          <p:nvPr/>
        </p:nvSpPr>
        <p:spPr>
          <a:xfrm>
            <a:off x="502920" y="1417320"/>
            <a:ext cx="2057400" cy="1097280"/>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463040"/>
            <a:ext cx="1965960"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Version Stores</a:t>
            </a:r>
          </a:p>
        </p:txBody>
      </p:sp>
      <p:sp>
        <p:nvSpPr>
          <p:cNvPr id="5" name="TextBox 4"/>
          <p:cNvSpPr txBox="1"/>
          <p:nvPr/>
        </p:nvSpPr>
        <p:spPr>
          <a:xfrm>
            <a:off x="630936" y="1847088"/>
            <a:ext cx="1801368" cy="621792"/>
          </a:xfrm>
          <a:prstGeom prst="rect">
            <a:avLst/>
          </a:prstGeom>
          <a:noFill/>
        </p:spPr>
        <p:txBody>
          <a:bodyPr wrap="square">
            <a:spAutoFit/>
          </a:bodyPr>
          <a:lstStyle/>
          <a:p>
            <a:pPr algn="l"/>
            <a:r>
              <a:rPr sz="1050">
                <a:solidFill>
                  <a:srgbClr val="1F2937"/>
                </a:solidFill>
                <a:latin typeface="Aptos"/>
              </a:rPr>
              <a:t>PromptStore picks best prompt.</a:t>
            </a:r>
          </a:p>
          <a:p>
            <a:pPr algn="l"/>
            <a:r>
              <a:rPr sz="1050">
                <a:solidFill>
                  <a:srgbClr val="1F2937"/>
                </a:solidFill>
                <a:latin typeface="Aptos"/>
              </a:rPr>
              <a:t>HarnessConfigStore picks best harness config.</a:t>
            </a:r>
          </a:p>
        </p:txBody>
      </p:sp>
      <p:sp>
        <p:nvSpPr>
          <p:cNvPr id="6" name="Chevron 5"/>
          <p:cNvSpPr/>
          <p:nvPr/>
        </p:nvSpPr>
        <p:spPr>
          <a:xfrm>
            <a:off x="2697480" y="1755648"/>
            <a:ext cx="594360" cy="384048"/>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29000" y="1234440"/>
            <a:ext cx="2377440" cy="1463040"/>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74720" y="1280160"/>
            <a:ext cx="2286000"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Agent Factory
`src/agent/deep_agent.py`</a:t>
            </a:r>
          </a:p>
        </p:txBody>
      </p:sp>
      <p:sp>
        <p:nvSpPr>
          <p:cNvPr id="9" name="TextBox 8"/>
          <p:cNvSpPr txBox="1"/>
          <p:nvPr/>
        </p:nvSpPr>
        <p:spPr>
          <a:xfrm>
            <a:off x="3557016" y="1664208"/>
            <a:ext cx="2121408" cy="987552"/>
          </a:xfrm>
          <a:prstGeom prst="rect">
            <a:avLst/>
          </a:prstGeom>
          <a:noFill/>
        </p:spPr>
        <p:txBody>
          <a:bodyPr wrap="square">
            <a:spAutoFit/>
          </a:bodyPr>
          <a:lstStyle/>
          <a:p>
            <a:pPr algn="l"/>
            <a:r>
              <a:rPr sz="1050">
                <a:solidFill>
                  <a:srgbClr val="1F2937"/>
                </a:solidFill>
                <a:latin typeface="Aptos"/>
              </a:rPr>
              <a:t>Creates LLM.</a:t>
            </a:r>
          </a:p>
          <a:p>
            <a:pPr algn="l"/>
            <a:r>
              <a:rPr sz="1050">
                <a:solidFill>
                  <a:srgbClr val="1F2937"/>
                </a:solidFill>
                <a:latin typeface="Aptos"/>
              </a:rPr>
              <a:t>Creates search tool with harness-tuned parameters.</a:t>
            </a:r>
          </a:p>
          <a:p>
            <a:pPr algn="l"/>
            <a:r>
              <a:rPr sz="1050">
                <a:solidFill>
                  <a:srgbClr val="1F2937"/>
                </a:solidFill>
                <a:latin typeface="Aptos"/>
              </a:rPr>
              <a:t>Loads prompt, memory context, skills, subagents, middleware.</a:t>
            </a:r>
          </a:p>
        </p:txBody>
      </p:sp>
      <p:sp>
        <p:nvSpPr>
          <p:cNvPr id="10" name="Chevron 9"/>
          <p:cNvSpPr/>
          <p:nvPr/>
        </p:nvSpPr>
        <p:spPr>
          <a:xfrm>
            <a:off x="5943600" y="1755648"/>
            <a:ext cx="594360" cy="384048"/>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629400" y="1234440"/>
            <a:ext cx="2423160" cy="146304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675120" y="1280160"/>
            <a:ext cx="233172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deepagents Runtime</a:t>
            </a:r>
          </a:p>
        </p:txBody>
      </p:sp>
      <p:sp>
        <p:nvSpPr>
          <p:cNvPr id="13" name="TextBox 12"/>
          <p:cNvSpPr txBox="1"/>
          <p:nvPr/>
        </p:nvSpPr>
        <p:spPr>
          <a:xfrm>
            <a:off x="6757416" y="1664208"/>
            <a:ext cx="2167128" cy="987552"/>
          </a:xfrm>
          <a:prstGeom prst="rect">
            <a:avLst/>
          </a:prstGeom>
          <a:noFill/>
        </p:spPr>
        <p:txBody>
          <a:bodyPr wrap="square">
            <a:spAutoFit/>
          </a:bodyPr>
          <a:lstStyle/>
          <a:p>
            <a:pPr algn="l"/>
            <a:r>
              <a:rPr sz="1050">
                <a:solidFill>
                  <a:srgbClr val="1F2937"/>
                </a:solidFill>
                <a:latin typeface="Aptos"/>
              </a:rPr>
              <a:t>System prompt = current prompt + compressed memory context.</a:t>
            </a:r>
          </a:p>
          <a:p>
            <a:pPr algn="l"/>
            <a:r>
              <a:rPr sz="1050">
                <a:solidFill>
                  <a:srgbClr val="1F2937"/>
                </a:solidFill>
                <a:latin typeface="Aptos"/>
              </a:rPr>
              <a:t>Middleware stack from `default_middleware_stack()`.</a:t>
            </a:r>
          </a:p>
          <a:p>
            <a:pPr algn="l"/>
            <a:r>
              <a:rPr sz="1050">
                <a:solidFill>
                  <a:srgbClr val="1F2937"/>
                </a:solidFill>
                <a:latin typeface="Aptos"/>
              </a:rPr>
              <a:t>Primary tool = search.</a:t>
            </a:r>
          </a:p>
        </p:txBody>
      </p:sp>
      <p:sp>
        <p:nvSpPr>
          <p:cNvPr id="14" name="Chevron 13"/>
          <p:cNvSpPr/>
          <p:nvPr/>
        </p:nvSpPr>
        <p:spPr>
          <a:xfrm>
            <a:off x="9171432" y="1755648"/>
            <a:ext cx="594360" cy="384048"/>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875520" y="1417320"/>
            <a:ext cx="1783080" cy="1097280"/>
          </a:xfrm>
          <a:prstGeom prst="roundRect">
            <a:avLst/>
          </a:prstGeom>
          <a:solidFill>
            <a:srgbClr val="FFFFFF"/>
          </a:solidFill>
          <a:ln w="16510">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921240" y="1463040"/>
            <a:ext cx="1691639" cy="329184"/>
          </a:xfrm>
          <a:prstGeom prst="roundRect">
            <a:avLst/>
          </a:prstGeom>
          <a:solidFill>
            <a:srgbClr val="B83F45"/>
          </a:solidFill>
          <a:ln>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Task Output</a:t>
            </a:r>
          </a:p>
        </p:txBody>
      </p:sp>
      <p:sp>
        <p:nvSpPr>
          <p:cNvPr id="17" name="TextBox 16"/>
          <p:cNvSpPr txBox="1"/>
          <p:nvPr/>
        </p:nvSpPr>
        <p:spPr>
          <a:xfrm>
            <a:off x="10003536" y="1847088"/>
            <a:ext cx="1527048" cy="621792"/>
          </a:xfrm>
          <a:prstGeom prst="rect">
            <a:avLst/>
          </a:prstGeom>
          <a:noFill/>
        </p:spPr>
        <p:txBody>
          <a:bodyPr wrap="square">
            <a:spAutoFit/>
          </a:bodyPr>
          <a:lstStyle/>
          <a:p>
            <a:pPr algn="l"/>
            <a:r>
              <a:rPr sz="1050">
                <a:solidFill>
                  <a:srgbClr val="1F2937"/>
                </a:solidFill>
                <a:latin typeface="Aptos"/>
              </a:rPr>
              <a:t>Final answer</a:t>
            </a:r>
          </a:p>
          <a:p>
            <a:pPr algn="l"/>
            <a:r>
              <a:rPr sz="1050">
                <a:solidFill>
                  <a:srgbClr val="1F2937"/>
                </a:solidFill>
                <a:latin typeface="Aptos"/>
              </a:rPr>
              <a:t>plus trace side effects</a:t>
            </a:r>
          </a:p>
        </p:txBody>
      </p:sp>
      <p:sp>
        <p:nvSpPr>
          <p:cNvPr id="18" name="Rounded Rectangle 17"/>
          <p:cNvSpPr/>
          <p:nvPr/>
        </p:nvSpPr>
        <p:spPr>
          <a:xfrm>
            <a:off x="640080" y="3063240"/>
            <a:ext cx="3520440" cy="2286000"/>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What is fixed vs learned</a:t>
            </a:r>
          </a:p>
          <a:p>
            <a:r>
              <a:rPr sz="1050">
                <a:solidFill>
                  <a:srgbClr val="1F2937"/>
                </a:solidFill>
                <a:latin typeface="Aptos"/>
              </a:rPr>
              <a:t>Fixed at runtime:</a:t>
            </a:r>
          </a:p>
          <a:p>
            <a:r>
              <a:rPr sz="1050">
                <a:solidFill>
                  <a:srgbClr val="1F2937"/>
                </a:solidFill>
                <a:latin typeface="Aptos"/>
              </a:rPr>
              <a:t>`deepagents` execution model, grader classes, storage schema.</a:t>
            </a:r>
          </a:p>
          <a:p>
            <a:endParaRPr sz="1050">
              <a:solidFill>
                <a:srgbClr val="1F2937"/>
              </a:solidFill>
              <a:latin typeface="Aptos"/>
            </a:endParaRPr>
          </a:p>
          <a:p>
            <a:r>
              <a:rPr sz="1050">
                <a:solidFill>
                  <a:srgbClr val="1F2937"/>
                </a:solidFill>
                <a:latin typeface="Aptos"/>
              </a:rPr>
              <a:t>Learned across runs:</a:t>
            </a:r>
          </a:p>
          <a:p>
            <a:r>
              <a:rPr sz="1050">
                <a:solidFill>
                  <a:srgbClr val="1F2937"/>
                </a:solidFill>
                <a:latin typeface="Aptos"/>
              </a:rPr>
              <a:t>prompt versions, harness config versions, learned skills, episodic summaries, semantic patterns, meta-instructions.</a:t>
            </a:r>
          </a:p>
        </p:txBody>
      </p:sp>
      <p:sp>
        <p:nvSpPr>
          <p:cNvPr id="19" name="Rounded Rectangle 18"/>
          <p:cNvSpPr/>
          <p:nvPr/>
        </p:nvSpPr>
        <p:spPr>
          <a:xfrm>
            <a:off x="4389120" y="3063240"/>
            <a:ext cx="3520440" cy="2286000"/>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Why `src/` stays thin</a:t>
            </a:r>
          </a:p>
          <a:p>
            <a:r>
              <a:rPr sz="1050">
                <a:solidFill>
                  <a:srgbClr val="1F2937"/>
                </a:solidFill>
                <a:latin typeface="Aptos"/>
              </a:rPr>
              <a:t>Application code mostly composes library pieces rather than re-implementing them.</a:t>
            </a:r>
          </a:p>
          <a:p>
            <a:r>
              <a:rPr sz="1050">
                <a:solidFill>
                  <a:srgbClr val="1F2937"/>
                </a:solidFill>
                <a:latin typeface="Aptos"/>
              </a:rPr>
              <a:t>That is what makes the framework reusable: a different agent can swap the toolset and prompt domain while keeping the same improvement machinery.</a:t>
            </a:r>
          </a:p>
        </p:txBody>
      </p:sp>
      <p:sp>
        <p:nvSpPr>
          <p:cNvPr id="20" name="Rounded Rectangle 19"/>
          <p:cNvSpPr/>
          <p:nvPr/>
        </p:nvSpPr>
        <p:spPr>
          <a:xfrm>
            <a:off x="8138160" y="3063240"/>
            <a:ext cx="3429000" cy="2286000"/>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Critical join points</a:t>
            </a:r>
          </a:p>
          <a:p>
            <a:r>
              <a:rPr sz="1050">
                <a:solidFill>
                  <a:srgbClr val="1F2937"/>
                </a:solidFill>
                <a:latin typeface="Aptos"/>
              </a:rPr>
              <a:t>`create_agent()` joins prompt store, harness config store, skills directory, memory compression, and tracing.</a:t>
            </a:r>
          </a:p>
          <a:p>
            <a:r>
              <a:rPr sz="1050">
                <a:solidFill>
                  <a:srgbClr val="1F2937"/>
                </a:solidFill>
                <a:latin typeface="Aptos"/>
              </a:rPr>
              <a:t>That function is the bridge where offline learning re-enters the hot path of the next run.</a:t>
            </a:r>
          </a:p>
        </p:txBody>
      </p:sp>
      <p:sp>
        <p:nvSpPr>
          <p:cNvPr id="21" name="TextBox 20"/>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Hot path: read best versions -&gt; run agent -&gt; emit new evidence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Harness Stack</a:t>
            </a:r>
          </a:p>
          <a:p>
            <a:r>
              <a:rPr sz="1200">
                <a:solidFill>
                  <a:srgbClr val="4C5B6A"/>
                </a:solidFill>
                <a:latin typeface="Aptos"/>
              </a:rPr>
              <a:t>`evoagent/harness/builder.py` assembles six middleware modules; `HarnessConfig` controls most of their behavior.</a:t>
            </a:r>
          </a:p>
        </p:txBody>
      </p:sp>
      <p:sp>
        <p:nvSpPr>
          <p:cNvPr id="3" name="Rounded Rectangle 2"/>
          <p:cNvSpPr/>
          <p:nvPr/>
        </p:nvSpPr>
        <p:spPr>
          <a:xfrm>
            <a:off x="411480" y="1508760"/>
            <a:ext cx="1691640" cy="3383280"/>
          </a:xfrm>
          <a:prstGeom prst="roundRect">
            <a:avLst/>
          </a:prstGeom>
          <a:solidFill>
            <a:srgbClr val="E9F2FF"/>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1. SelfVerification</a:t>
            </a:r>
          </a:p>
          <a:p>
            <a:r>
              <a:rPr sz="1050">
                <a:solidFill>
                  <a:srgbClr val="1F2937"/>
                </a:solidFill>
                <a:latin typeface="Aptos"/>
              </a:rPr>
              <a:t>Checks structure, length, task coverage, and optional completion checks; retries before finalizing.</a:t>
            </a:r>
          </a:p>
        </p:txBody>
      </p:sp>
      <p:sp>
        <p:nvSpPr>
          <p:cNvPr id="4" name="Chevron 3"/>
          <p:cNvSpPr/>
          <p:nvPr/>
        </p:nvSpPr>
        <p:spPr>
          <a:xfrm>
            <a:off x="2167128" y="2788920"/>
            <a:ext cx="137160" cy="22860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331720" y="1508760"/>
            <a:ext cx="1691640" cy="3383280"/>
          </a:xfrm>
          <a:prstGeom prst="roundRect">
            <a:avLst/>
          </a:prstGeom>
          <a:solidFill>
            <a:srgbClr val="E2F4F1"/>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2. ContextAssembly</a:t>
            </a:r>
          </a:p>
          <a:p>
            <a:r>
              <a:rPr sz="1050">
                <a:solidFill>
                  <a:srgbClr val="1F2937"/>
                </a:solidFill>
                <a:latin typeface="Aptos"/>
              </a:rPr>
              <a:t>Injects environment snapshot and discovered skills on the first model call.</a:t>
            </a:r>
          </a:p>
        </p:txBody>
      </p:sp>
      <p:sp>
        <p:nvSpPr>
          <p:cNvPr id="6" name="Chevron 5"/>
          <p:cNvSpPr/>
          <p:nvPr/>
        </p:nvSpPr>
        <p:spPr>
          <a:xfrm>
            <a:off x="4087368" y="2788920"/>
            <a:ext cx="137160" cy="22860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251960" y="1508760"/>
            <a:ext cx="1691640" cy="3383280"/>
          </a:xfrm>
          <a:prstGeom prst="roundRect">
            <a:avLst/>
          </a:prstGeom>
          <a:solidFill>
            <a:srgbClr val="FFF4E2"/>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3. LoopDetection</a:t>
            </a:r>
          </a:p>
          <a:p>
            <a:r>
              <a:rPr sz="1050">
                <a:solidFill>
                  <a:srgbClr val="1F2937"/>
                </a:solidFill>
                <a:latin typeface="Aptos"/>
              </a:rPr>
              <a:t>Detects repeated searches, repeated tools, and file-edit loops; nudges toward synthesis.</a:t>
            </a:r>
          </a:p>
        </p:txBody>
      </p:sp>
      <p:sp>
        <p:nvSpPr>
          <p:cNvPr id="8" name="Chevron 7"/>
          <p:cNvSpPr/>
          <p:nvPr/>
        </p:nvSpPr>
        <p:spPr>
          <a:xfrm>
            <a:off x="6007608" y="2788920"/>
            <a:ext cx="137160" cy="22860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72200" y="1508760"/>
            <a:ext cx="1691640" cy="3383280"/>
          </a:xfrm>
          <a:prstGeom prst="roundRect">
            <a:avLst/>
          </a:prstGeom>
          <a:solidFill>
            <a:srgbClr val="F8E6E7"/>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4. TimeBudget</a:t>
            </a:r>
          </a:p>
          <a:p>
            <a:r>
              <a:rPr sz="1050">
                <a:solidFill>
                  <a:srgbClr val="1F2937"/>
                </a:solidFill>
                <a:latin typeface="Aptos"/>
              </a:rPr>
              <a:t>Appends escalating warnings to tool responses as budget is consumed.</a:t>
            </a:r>
          </a:p>
        </p:txBody>
      </p:sp>
      <p:sp>
        <p:nvSpPr>
          <p:cNvPr id="10" name="Chevron 9"/>
          <p:cNvSpPr/>
          <p:nvPr/>
        </p:nvSpPr>
        <p:spPr>
          <a:xfrm>
            <a:off x="7927848" y="2788920"/>
            <a:ext cx="137160" cy="22860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92440" y="1508760"/>
            <a:ext cx="1691640" cy="3383280"/>
          </a:xfrm>
          <a:prstGeom prst="roundRect">
            <a:avLst/>
          </a:prstGeom>
          <a:solidFill>
            <a:srgbClr val="E8E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5. ReasoningSandwich</a:t>
            </a:r>
          </a:p>
          <a:p>
            <a:r>
              <a:rPr sz="1050">
                <a:solidFill>
                  <a:srgbClr val="1F2937"/>
                </a:solidFill>
                <a:latin typeface="Aptos"/>
              </a:rPr>
              <a:t>Allocates more reasoning effort to planning and verification phases than execution phase.</a:t>
            </a:r>
          </a:p>
        </p:txBody>
      </p:sp>
      <p:sp>
        <p:nvSpPr>
          <p:cNvPr id="12" name="Chevron 11"/>
          <p:cNvSpPr/>
          <p:nvPr/>
        </p:nvSpPr>
        <p:spPr>
          <a:xfrm>
            <a:off x="9848088" y="2788920"/>
            <a:ext cx="137160" cy="22860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012680" y="1508760"/>
            <a:ext cx="1691640" cy="3383280"/>
          </a:xfrm>
          <a:prstGeom prst="roundRect">
            <a:avLst/>
          </a:prstGeom>
          <a:solidFill>
            <a:srgbClr val="ECECE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6. TraceCapture</a:t>
            </a:r>
          </a:p>
          <a:p>
            <a:r>
              <a:rPr sz="1050">
                <a:solidFill>
                  <a:srgbClr val="1F2937"/>
                </a:solidFill>
                <a:latin typeface="Aptos"/>
              </a:rPr>
              <a:t>Persists trace data for offline diagnosis and LangSmith/local analysis.</a:t>
            </a:r>
          </a:p>
        </p:txBody>
      </p:sp>
      <p:sp>
        <p:nvSpPr>
          <p:cNvPr id="14" name="Rounded Rectangle 13"/>
          <p:cNvSpPr/>
          <p:nvPr/>
        </p:nvSpPr>
        <p:spPr>
          <a:xfrm>
            <a:off x="731520" y="5257800"/>
            <a:ext cx="10972800" cy="822960"/>
          </a:xfrm>
          <a:prstGeom prst="roundRect">
            <a:avLst/>
          </a:prstGeom>
          <a:solidFill>
            <a:srgbClr val="FFFFFF"/>
          </a:solidFill>
          <a:ln w="16510">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77240" y="5303520"/>
            <a:ext cx="10881360" cy="329184"/>
          </a:xfrm>
          <a:prstGeom prst="round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Tunable surface</a:t>
            </a:r>
          </a:p>
        </p:txBody>
      </p:sp>
      <p:sp>
        <p:nvSpPr>
          <p:cNvPr id="16" name="TextBox 15"/>
          <p:cNvSpPr txBox="1"/>
          <p:nvPr/>
        </p:nvSpPr>
        <p:spPr>
          <a:xfrm>
            <a:off x="859536" y="5687568"/>
            <a:ext cx="10716768" cy="347472"/>
          </a:xfrm>
          <a:prstGeom prst="rect">
            <a:avLst/>
          </a:prstGeom>
          <a:noFill/>
        </p:spPr>
        <p:txBody>
          <a:bodyPr wrap="square">
            <a:spAutoFit/>
          </a:bodyPr>
          <a:lstStyle/>
          <a:p>
            <a:pPr algn="l"/>
            <a:r>
              <a:rPr sz="1050">
                <a:solidFill>
                  <a:srgbClr val="1F2937"/>
                </a:solidFill>
                <a:latin typeface="Aptos"/>
              </a:rPr>
              <a:t>`HarnessConfig` includes retries, required sections, completion checks, loop thresholds, file edit thresholds, warning points, reasoning efforts, planning call count, environment detection, and search-tool parameters such as retry count, delay, result count, and search depth.</a:t>
            </a:r>
          </a:p>
        </p:txBody>
      </p:sp>
      <p:sp>
        <p:nvSpPr>
          <p:cNvPr id="17" name="TextBox 16"/>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This harness is learned configuration, not hard-coded policy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How One Run Produces Learning Signal</a:t>
            </a:r>
          </a:p>
          <a:p>
            <a:r>
              <a:rPr sz="1200">
                <a:solidFill>
                  <a:srgbClr val="4C5B6A"/>
                </a:solidFill>
                <a:latin typeface="Aptos"/>
              </a:rPr>
              <a:t>The run path is implemented in `src/cli/commands.py::cmd_run`.</a:t>
            </a:r>
          </a:p>
        </p:txBody>
      </p:sp>
      <p:sp>
        <p:nvSpPr>
          <p:cNvPr id="3" name="Rounded Rectangle 2"/>
          <p:cNvSpPr/>
          <p:nvPr/>
        </p:nvSpPr>
        <p:spPr>
          <a:xfrm>
            <a:off x="502920" y="1463040"/>
            <a:ext cx="1828800" cy="1154036"/>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508760"/>
            <a:ext cx="1737360"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1. Execute</a:t>
            </a:r>
          </a:p>
        </p:txBody>
      </p:sp>
      <p:sp>
        <p:nvSpPr>
          <p:cNvPr id="5" name="TextBox 4"/>
          <p:cNvSpPr txBox="1"/>
          <p:nvPr/>
        </p:nvSpPr>
        <p:spPr>
          <a:xfrm>
            <a:off x="630936" y="1892808"/>
            <a:ext cx="1572768" cy="438912"/>
          </a:xfrm>
          <a:prstGeom prst="rect">
            <a:avLst/>
          </a:prstGeom>
          <a:noFill/>
        </p:spPr>
        <p:txBody>
          <a:bodyPr wrap="square">
            <a:spAutoFit/>
          </a:bodyPr>
          <a:lstStyle/>
          <a:p>
            <a:pPr algn="l"/>
            <a:r>
              <a:rPr sz="1050">
                <a:solidFill>
                  <a:srgbClr val="1F2937"/>
                </a:solidFill>
                <a:latin typeface="Aptos"/>
              </a:rPr>
              <a:t>Agent answers the task with current prompt, memory context, tools, and harness.</a:t>
            </a:r>
          </a:p>
        </p:txBody>
      </p:sp>
      <p:sp>
        <p:nvSpPr>
          <p:cNvPr id="6" name="Chevron 5"/>
          <p:cNvSpPr/>
          <p:nvPr/>
        </p:nvSpPr>
        <p:spPr>
          <a:xfrm>
            <a:off x="2423160" y="1783080"/>
            <a:ext cx="50292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017520" y="1463039"/>
            <a:ext cx="1828800" cy="1154035"/>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63239" y="1508760"/>
            <a:ext cx="1737360"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2. Grade</a:t>
            </a:r>
          </a:p>
        </p:txBody>
      </p:sp>
      <p:sp>
        <p:nvSpPr>
          <p:cNvPr id="9" name="TextBox 8"/>
          <p:cNvSpPr txBox="1"/>
          <p:nvPr/>
        </p:nvSpPr>
        <p:spPr>
          <a:xfrm>
            <a:off x="3145536" y="1892808"/>
            <a:ext cx="1572768" cy="438912"/>
          </a:xfrm>
          <a:prstGeom prst="rect">
            <a:avLst/>
          </a:prstGeom>
          <a:noFill/>
        </p:spPr>
        <p:txBody>
          <a:bodyPr wrap="square">
            <a:spAutoFit/>
          </a:bodyPr>
          <a:lstStyle/>
          <a:p>
            <a:pPr algn="l"/>
            <a:r>
              <a:rPr sz="1050">
                <a:solidFill>
                  <a:srgbClr val="1F2937"/>
                </a:solidFill>
                <a:latin typeface="Aptos"/>
              </a:rPr>
              <a:t>Trajectory is scored for task completion, quality, efficiency, and claim verification.</a:t>
            </a:r>
          </a:p>
        </p:txBody>
      </p:sp>
      <p:sp>
        <p:nvSpPr>
          <p:cNvPr id="10" name="Chevron 9"/>
          <p:cNvSpPr/>
          <p:nvPr/>
        </p:nvSpPr>
        <p:spPr>
          <a:xfrm>
            <a:off x="4937760" y="1783080"/>
            <a:ext cx="50292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532120" y="1463040"/>
            <a:ext cx="1828800" cy="128016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577840" y="1508760"/>
            <a:ext cx="173736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3. Version scoring</a:t>
            </a:r>
          </a:p>
        </p:txBody>
      </p:sp>
      <p:sp>
        <p:nvSpPr>
          <p:cNvPr id="13" name="TextBox 12"/>
          <p:cNvSpPr txBox="1"/>
          <p:nvPr/>
        </p:nvSpPr>
        <p:spPr>
          <a:xfrm>
            <a:off x="5660136" y="1892808"/>
            <a:ext cx="1572768" cy="438912"/>
          </a:xfrm>
          <a:prstGeom prst="rect">
            <a:avLst/>
          </a:prstGeom>
          <a:noFill/>
        </p:spPr>
        <p:txBody>
          <a:bodyPr wrap="square">
            <a:spAutoFit/>
          </a:bodyPr>
          <a:lstStyle/>
          <a:p>
            <a:pPr algn="l"/>
            <a:r>
              <a:rPr sz="1050">
                <a:solidFill>
                  <a:srgbClr val="1F2937"/>
                </a:solidFill>
                <a:latin typeface="Aptos"/>
              </a:rPr>
              <a:t>Current prompt version and current harness config version receive incremental score updates.</a:t>
            </a:r>
          </a:p>
        </p:txBody>
      </p:sp>
      <p:sp>
        <p:nvSpPr>
          <p:cNvPr id="14" name="Chevron 13"/>
          <p:cNvSpPr/>
          <p:nvPr/>
        </p:nvSpPr>
        <p:spPr>
          <a:xfrm>
            <a:off x="7452360" y="1783080"/>
            <a:ext cx="50292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46720" y="1463040"/>
            <a:ext cx="1828800" cy="1154034"/>
          </a:xfrm>
          <a:prstGeom prst="roundRect">
            <a:avLst/>
          </a:prstGeom>
          <a:solidFill>
            <a:srgbClr val="FFFFFF"/>
          </a:solidFill>
          <a:ln w="16510">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92440" y="1508760"/>
            <a:ext cx="1737360" cy="329184"/>
          </a:xfrm>
          <a:prstGeom prst="roundRect">
            <a:avLst/>
          </a:prstGeom>
          <a:solidFill>
            <a:srgbClr val="B83F45"/>
          </a:solidFill>
          <a:ln>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4. Run log</a:t>
            </a:r>
          </a:p>
        </p:txBody>
      </p:sp>
      <p:sp>
        <p:nvSpPr>
          <p:cNvPr id="17" name="TextBox 16"/>
          <p:cNvSpPr txBox="1"/>
          <p:nvPr/>
        </p:nvSpPr>
        <p:spPr>
          <a:xfrm>
            <a:off x="8174736" y="1892808"/>
            <a:ext cx="1572768" cy="438912"/>
          </a:xfrm>
          <a:prstGeom prst="rect">
            <a:avLst/>
          </a:prstGeom>
          <a:noFill/>
        </p:spPr>
        <p:txBody>
          <a:bodyPr wrap="square">
            <a:spAutoFit/>
          </a:bodyPr>
          <a:lstStyle/>
          <a:p>
            <a:pPr algn="l"/>
            <a:r>
              <a:rPr sz="1050">
                <a:solidFill>
                  <a:srgbClr val="1F2937"/>
                </a:solidFill>
                <a:latin typeface="Aptos"/>
              </a:rPr>
              <a:t>Structured entry is appended to `evolution_state/run_log.jsonl`.</a:t>
            </a:r>
          </a:p>
        </p:txBody>
      </p:sp>
      <p:sp>
        <p:nvSpPr>
          <p:cNvPr id="18" name="Chevron 17"/>
          <p:cNvSpPr/>
          <p:nvPr/>
        </p:nvSpPr>
        <p:spPr>
          <a:xfrm>
            <a:off x="9966960" y="1783080"/>
            <a:ext cx="50292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561320" y="1463039"/>
            <a:ext cx="1143000" cy="1154033"/>
          </a:xfrm>
          <a:prstGeom prst="roundRect">
            <a:avLst/>
          </a:prstGeom>
          <a:solidFill>
            <a:srgbClr val="FFFFFF"/>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607040" y="1508760"/>
            <a:ext cx="1051560" cy="329184"/>
          </a:xfrm>
          <a:prstGeom prst="roundRect">
            <a:avLst/>
          </a:prstGeom>
          <a:solidFill>
            <a:srgbClr val="4C5B6A"/>
          </a:solidFill>
          <a:ln>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5. Reflect</a:t>
            </a:r>
          </a:p>
        </p:txBody>
      </p:sp>
      <p:sp>
        <p:nvSpPr>
          <p:cNvPr id="21" name="TextBox 20"/>
          <p:cNvSpPr txBox="1"/>
          <p:nvPr/>
        </p:nvSpPr>
        <p:spPr>
          <a:xfrm>
            <a:off x="10689336" y="1892808"/>
            <a:ext cx="886968" cy="438912"/>
          </a:xfrm>
          <a:prstGeom prst="rect">
            <a:avLst/>
          </a:prstGeom>
          <a:noFill/>
        </p:spPr>
        <p:txBody>
          <a:bodyPr wrap="square">
            <a:spAutoFit/>
          </a:bodyPr>
          <a:lstStyle/>
          <a:p>
            <a:pPr algn="l"/>
            <a:r>
              <a:rPr sz="1050">
                <a:solidFill>
                  <a:srgbClr val="1F2937"/>
                </a:solidFill>
                <a:latin typeface="Aptos"/>
              </a:rPr>
              <a:t>Store episodic + semantic memory.</a:t>
            </a:r>
          </a:p>
        </p:txBody>
      </p:sp>
      <p:sp>
        <p:nvSpPr>
          <p:cNvPr id="22" name="Rounded Rectangle 21"/>
          <p:cNvSpPr/>
          <p:nvPr/>
        </p:nvSpPr>
        <p:spPr>
          <a:xfrm>
            <a:off x="685800" y="3063240"/>
            <a:ext cx="5394960" cy="2331720"/>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What gets persisted immediately</a:t>
            </a:r>
          </a:p>
          <a:p>
            <a:r>
              <a:rPr sz="1050">
                <a:solidFill>
                  <a:srgbClr val="1F2937"/>
                </a:solidFill>
                <a:latin typeface="Aptos"/>
              </a:rPr>
              <a:t>`PromptStore.update_score()` and `HarnessConfigStore.update_score()` make every run contribute to the ranking of active versions.</a:t>
            </a:r>
          </a:p>
          <a:p>
            <a:endParaRPr sz="1050">
              <a:solidFill>
                <a:srgbClr val="1F2937"/>
              </a:solidFill>
              <a:latin typeface="Aptos"/>
            </a:endParaRPr>
          </a:p>
          <a:p>
            <a:r>
              <a:rPr sz="1050">
                <a:solidFill>
                  <a:srgbClr val="1F2937"/>
                </a:solidFill>
                <a:latin typeface="Aptos"/>
              </a:rPr>
              <a:t>`RunLogEntry` captures task, output, classification, average score, per-grader reasoning, prompt version, harness config version, and optional trace path.</a:t>
            </a:r>
          </a:p>
          <a:p>
            <a:endParaRPr sz="1050">
              <a:solidFill>
                <a:srgbClr val="1F2937"/>
              </a:solidFill>
              <a:latin typeface="Aptos"/>
            </a:endParaRPr>
          </a:p>
          <a:p>
            <a:r>
              <a:rPr sz="1050">
                <a:solidFill>
                  <a:srgbClr val="1F2937"/>
                </a:solidFill>
                <a:latin typeface="Aptos"/>
              </a:rPr>
              <a:t>`reflect_and_store()` writes:</a:t>
            </a:r>
          </a:p>
          <a:p>
            <a:r>
              <a:rPr sz="1050">
                <a:solidFill>
                  <a:srgbClr val="1F2937"/>
                </a:solidFill>
                <a:latin typeface="Aptos"/>
              </a:rPr>
              <a:t>- episodic memory = run summary, what worked, what to improve, output preview</a:t>
            </a:r>
          </a:p>
          <a:p>
            <a:r>
              <a:rPr sz="1050">
                <a:solidFill>
                  <a:srgbClr val="1F2937"/>
                </a:solidFill>
                <a:latin typeface="Aptos"/>
              </a:rPr>
              <a:t>- semantic memory = extracted facts and patterns</a:t>
            </a:r>
          </a:p>
        </p:txBody>
      </p:sp>
      <p:sp>
        <p:nvSpPr>
          <p:cNvPr id="23" name="Rounded Rectangle 22"/>
          <p:cNvSpPr/>
          <p:nvPr/>
        </p:nvSpPr>
        <p:spPr>
          <a:xfrm>
            <a:off x="6355080" y="3063238"/>
            <a:ext cx="5166360" cy="2331721"/>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Why this matters</a:t>
            </a:r>
          </a:p>
          <a:p>
            <a:r>
              <a:rPr sz="1050">
                <a:solidFill>
                  <a:srgbClr val="1F2937"/>
                </a:solidFill>
                <a:latin typeface="Aptos"/>
              </a:rPr>
              <a:t>The project does not wait for a separate benchmark stage to learn.</a:t>
            </a:r>
          </a:p>
          <a:p>
            <a:r>
              <a:rPr sz="1050">
                <a:solidFill>
                  <a:srgbClr val="1F2937"/>
                </a:solidFill>
                <a:latin typeface="Aptos"/>
              </a:rPr>
              <a:t>Every user task is simultaneously:</a:t>
            </a:r>
          </a:p>
          <a:p>
            <a:r>
              <a:rPr sz="1050">
                <a:solidFill>
                  <a:srgbClr val="1F2937"/>
                </a:solidFill>
                <a:latin typeface="Aptos"/>
              </a:rPr>
              <a:t>- serving traffic</a:t>
            </a:r>
          </a:p>
          <a:p>
            <a:r>
              <a:rPr sz="1050">
                <a:solidFill>
                  <a:srgbClr val="1F2937"/>
                </a:solidFill>
                <a:latin typeface="Aptos"/>
              </a:rPr>
              <a:t>- producing reward signal</a:t>
            </a:r>
          </a:p>
          <a:p>
            <a:r>
              <a:rPr sz="1050">
                <a:solidFill>
                  <a:srgbClr val="1F2937"/>
                </a:solidFill>
                <a:latin typeface="Aptos"/>
              </a:rPr>
              <a:t>- producing text feedback</a:t>
            </a:r>
          </a:p>
          <a:p>
            <a:r>
              <a:rPr sz="1050">
                <a:solidFill>
                  <a:srgbClr val="1F2937"/>
                </a:solidFill>
                <a:latin typeface="Aptos"/>
              </a:rPr>
              <a:t>- producing memory</a:t>
            </a:r>
          </a:p>
          <a:p>
            <a:r>
              <a:rPr sz="1050">
                <a:solidFill>
                  <a:srgbClr val="1F2937"/>
                </a:solidFill>
                <a:latin typeface="Aptos"/>
              </a:rPr>
              <a:t>- producing trace evidence for later diagnosis</a:t>
            </a:r>
          </a:p>
        </p:txBody>
      </p:sp>
      <p:sp>
        <p:nvSpPr>
          <p:cNvPr id="24" name="TextBox 23"/>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Per-run loop = hot-path learning and evidence capture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Background Daemon</a:t>
            </a:r>
          </a:p>
          <a:p>
            <a:r>
              <a:rPr sz="1200">
                <a:solidFill>
                  <a:srgbClr val="4C5B6A"/>
                </a:solidFill>
                <a:latin typeface="Aptos"/>
              </a:rPr>
              <a:t>`src/evolution/daemon.py` is the primary continuous-improvement loop.</a:t>
            </a:r>
          </a:p>
        </p:txBody>
      </p:sp>
      <p:sp>
        <p:nvSpPr>
          <p:cNvPr id="3" name="Rounded Rectangle 2"/>
          <p:cNvSpPr/>
          <p:nvPr/>
        </p:nvSpPr>
        <p:spPr>
          <a:xfrm>
            <a:off x="594360" y="1417320"/>
            <a:ext cx="1965960" cy="1005840"/>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463040"/>
            <a:ext cx="1874519"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Trigger</a:t>
            </a:r>
          </a:p>
        </p:txBody>
      </p:sp>
      <p:sp>
        <p:nvSpPr>
          <p:cNvPr id="5" name="TextBox 4"/>
          <p:cNvSpPr txBox="1"/>
          <p:nvPr/>
        </p:nvSpPr>
        <p:spPr>
          <a:xfrm>
            <a:off x="722376" y="1847088"/>
            <a:ext cx="1709928" cy="530352"/>
          </a:xfrm>
          <a:prstGeom prst="rect">
            <a:avLst/>
          </a:prstGeom>
          <a:noFill/>
        </p:spPr>
        <p:txBody>
          <a:bodyPr wrap="square">
            <a:spAutoFit/>
          </a:bodyPr>
          <a:lstStyle/>
          <a:p>
            <a:pPr algn="l"/>
            <a:r>
              <a:rPr sz="1050">
                <a:solidFill>
                  <a:srgbClr val="1F2937"/>
                </a:solidFill>
                <a:latin typeface="Aptos"/>
              </a:rPr>
              <a:t>Poll `run_log.jsonl` every 60s.</a:t>
            </a:r>
          </a:p>
          <a:p>
            <a:pPr algn="l"/>
            <a:r>
              <a:rPr sz="1050">
                <a:solidFill>
                  <a:srgbClr val="1F2937"/>
                </a:solidFill>
                <a:latin typeface="Aptos"/>
              </a:rPr>
              <a:t>Start when 3+ unprocessed runs are available.</a:t>
            </a:r>
          </a:p>
        </p:txBody>
      </p:sp>
      <p:sp>
        <p:nvSpPr>
          <p:cNvPr id="6" name="Chevron 5"/>
          <p:cNvSpPr/>
          <p:nvPr/>
        </p:nvSpPr>
        <p:spPr>
          <a:xfrm>
            <a:off x="2697480" y="1755648"/>
            <a:ext cx="50292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46120" y="1188720"/>
            <a:ext cx="1828800" cy="1463040"/>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91839" y="1234440"/>
            <a:ext cx="1737360"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1. Prompt opt</a:t>
            </a:r>
          </a:p>
        </p:txBody>
      </p:sp>
      <p:sp>
        <p:nvSpPr>
          <p:cNvPr id="9" name="TextBox 8"/>
          <p:cNvSpPr txBox="1"/>
          <p:nvPr/>
        </p:nvSpPr>
        <p:spPr>
          <a:xfrm>
            <a:off x="3374136" y="1618488"/>
            <a:ext cx="1572768" cy="987552"/>
          </a:xfrm>
          <a:prstGeom prst="rect">
            <a:avLst/>
          </a:prstGeom>
          <a:noFill/>
        </p:spPr>
        <p:txBody>
          <a:bodyPr wrap="square">
            <a:spAutoFit/>
          </a:bodyPr>
          <a:lstStyle/>
          <a:p>
            <a:pPr algn="l"/>
            <a:r>
              <a:rPr sz="1050">
                <a:solidFill>
                  <a:srgbClr val="1F2937"/>
                </a:solidFill>
                <a:latin typeface="Aptos"/>
              </a:rPr>
              <a:t>Analyze failures and traces.</a:t>
            </a:r>
          </a:p>
          <a:p>
            <a:pPr algn="l"/>
            <a:r>
              <a:rPr sz="1050">
                <a:solidFill>
                  <a:srgbClr val="1F2937"/>
                </a:solidFill>
                <a:latin typeface="Aptos"/>
              </a:rPr>
              <a:t>Generate prompt candidates.</a:t>
            </a:r>
          </a:p>
          <a:p>
            <a:pPr algn="l"/>
            <a:r>
              <a:rPr sz="1050">
                <a:solidFill>
                  <a:srgbClr val="1F2937"/>
                </a:solidFill>
                <a:latin typeface="Aptos"/>
              </a:rPr>
              <a:t>Save new version only if changed.</a:t>
            </a:r>
          </a:p>
        </p:txBody>
      </p:sp>
      <p:sp>
        <p:nvSpPr>
          <p:cNvPr id="10" name="Chevron 9"/>
          <p:cNvSpPr/>
          <p:nvPr/>
        </p:nvSpPr>
        <p:spPr>
          <a:xfrm>
            <a:off x="5212080" y="1755648"/>
            <a:ext cx="41148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669280" y="1188720"/>
            <a:ext cx="1600200" cy="146304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715000" y="1234440"/>
            <a:ext cx="150876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2. Success skills</a:t>
            </a:r>
          </a:p>
        </p:txBody>
      </p:sp>
      <p:sp>
        <p:nvSpPr>
          <p:cNvPr id="13" name="TextBox 12"/>
          <p:cNvSpPr txBox="1"/>
          <p:nvPr/>
        </p:nvSpPr>
        <p:spPr>
          <a:xfrm>
            <a:off x="5797296" y="1618488"/>
            <a:ext cx="1344168" cy="987552"/>
          </a:xfrm>
          <a:prstGeom prst="rect">
            <a:avLst/>
          </a:prstGeom>
          <a:noFill/>
        </p:spPr>
        <p:txBody>
          <a:bodyPr wrap="square">
            <a:spAutoFit/>
          </a:bodyPr>
          <a:lstStyle/>
          <a:p>
            <a:pPr algn="l"/>
            <a:r>
              <a:rPr sz="1050">
                <a:solidFill>
                  <a:srgbClr val="1F2937"/>
                </a:solidFill>
                <a:latin typeface="Aptos"/>
              </a:rPr>
              <a:t>Extract reusable patterns from high-scoring runs.</a:t>
            </a:r>
          </a:p>
        </p:txBody>
      </p:sp>
      <p:sp>
        <p:nvSpPr>
          <p:cNvPr id="14" name="Chevron 13"/>
          <p:cNvSpPr/>
          <p:nvPr/>
        </p:nvSpPr>
        <p:spPr>
          <a:xfrm>
            <a:off x="7388352" y="1755648"/>
            <a:ext cx="41148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845552" y="1188720"/>
            <a:ext cx="1600200" cy="1463040"/>
          </a:xfrm>
          <a:prstGeom prst="roundRect">
            <a:avLst/>
          </a:prstGeom>
          <a:solidFill>
            <a:srgbClr val="FFFFFF"/>
          </a:solidFill>
          <a:ln w="16510">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891272" y="1234440"/>
            <a:ext cx="1508760" cy="329184"/>
          </a:xfrm>
          <a:prstGeom prst="roundRect">
            <a:avLst/>
          </a:prstGeom>
          <a:solidFill>
            <a:srgbClr val="B83F45"/>
          </a:solidFill>
          <a:ln>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3. Failure skills</a:t>
            </a:r>
          </a:p>
        </p:txBody>
      </p:sp>
      <p:sp>
        <p:nvSpPr>
          <p:cNvPr id="17" name="TextBox 16"/>
          <p:cNvSpPr txBox="1"/>
          <p:nvPr/>
        </p:nvSpPr>
        <p:spPr>
          <a:xfrm>
            <a:off x="7973568" y="1618488"/>
            <a:ext cx="1344168" cy="987552"/>
          </a:xfrm>
          <a:prstGeom prst="rect">
            <a:avLst/>
          </a:prstGeom>
          <a:noFill/>
        </p:spPr>
        <p:txBody>
          <a:bodyPr wrap="square">
            <a:spAutoFit/>
          </a:bodyPr>
          <a:lstStyle/>
          <a:p>
            <a:pPr algn="l"/>
            <a:r>
              <a:rPr sz="1050">
                <a:solidFill>
                  <a:srgbClr val="1F2937"/>
                </a:solidFill>
                <a:latin typeface="Aptos"/>
              </a:rPr>
              <a:t>Create defensive skills from bad runs.</a:t>
            </a:r>
          </a:p>
        </p:txBody>
      </p:sp>
      <p:sp>
        <p:nvSpPr>
          <p:cNvPr id="18" name="Chevron 17"/>
          <p:cNvSpPr/>
          <p:nvPr/>
        </p:nvSpPr>
        <p:spPr>
          <a:xfrm>
            <a:off x="9564624" y="1755648"/>
            <a:ext cx="411480" cy="274320"/>
          </a:xfrm>
          <a:prstGeom prst="chevron">
            <a:avLst/>
          </a:prstGeom>
          <a:solidFill>
            <a:srgbClr val="E6ECF2"/>
          </a:solidFill>
          <a:ln>
            <a:solidFill>
              <a:srgbClr val="E6EC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021824" y="1188720"/>
            <a:ext cx="1600200" cy="1463040"/>
          </a:xfrm>
          <a:prstGeom prst="roundRect">
            <a:avLst/>
          </a:prstGeom>
          <a:solidFill>
            <a:srgbClr val="FFFFFF"/>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067544" y="1234440"/>
            <a:ext cx="1508760" cy="329184"/>
          </a:xfrm>
          <a:prstGeom prst="roundRect">
            <a:avLst/>
          </a:prstGeom>
          <a:solidFill>
            <a:srgbClr val="4C5B6A"/>
          </a:solidFill>
          <a:ln>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4. Memory compression</a:t>
            </a:r>
          </a:p>
        </p:txBody>
      </p:sp>
      <p:sp>
        <p:nvSpPr>
          <p:cNvPr id="21" name="TextBox 20"/>
          <p:cNvSpPr txBox="1"/>
          <p:nvPr/>
        </p:nvSpPr>
        <p:spPr>
          <a:xfrm>
            <a:off x="10149840" y="1618488"/>
            <a:ext cx="1344168" cy="987552"/>
          </a:xfrm>
          <a:prstGeom prst="rect">
            <a:avLst/>
          </a:prstGeom>
          <a:noFill/>
        </p:spPr>
        <p:txBody>
          <a:bodyPr wrap="square">
            <a:spAutoFit/>
          </a:bodyPr>
          <a:lstStyle/>
          <a:p>
            <a:pPr algn="l"/>
            <a:r>
              <a:rPr sz="1050">
                <a:solidFill>
                  <a:srgbClr val="1F2937"/>
                </a:solidFill>
                <a:latin typeface="Aptos"/>
              </a:rPr>
              <a:t>Deduplicate semantic memory.</a:t>
            </a:r>
          </a:p>
        </p:txBody>
      </p:sp>
      <p:sp>
        <p:nvSpPr>
          <p:cNvPr id="22" name="Rounded Rectangle 21"/>
          <p:cNvSpPr/>
          <p:nvPr/>
        </p:nvSpPr>
        <p:spPr>
          <a:xfrm>
            <a:off x="1030276" y="3191257"/>
            <a:ext cx="10131447" cy="1965960"/>
          </a:xfrm>
          <a:prstGeom prst="roundRect">
            <a:avLst/>
          </a:prstGeom>
          <a:solidFill>
            <a:srgbClr val="FCFCFC"/>
          </a:solidFill>
          <a:ln w="16510">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97280" y="3291839"/>
            <a:ext cx="9966960" cy="329184"/>
          </a:xfrm>
          <a:prstGeom prst="round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5. Harness optimization closes the loop</a:t>
            </a:r>
          </a:p>
        </p:txBody>
      </p:sp>
      <p:sp>
        <p:nvSpPr>
          <p:cNvPr id="24" name="TextBox 23"/>
          <p:cNvSpPr txBox="1"/>
          <p:nvPr/>
        </p:nvSpPr>
        <p:spPr>
          <a:xfrm>
            <a:off x="1179576" y="3675887"/>
            <a:ext cx="9802368" cy="1490472"/>
          </a:xfrm>
          <a:prstGeom prst="rect">
            <a:avLst/>
          </a:prstGeom>
          <a:noFill/>
        </p:spPr>
        <p:txBody>
          <a:bodyPr wrap="square">
            <a:spAutoFit/>
          </a:bodyPr>
          <a:lstStyle/>
          <a:p>
            <a:pPr algn="l"/>
            <a:r>
              <a:rPr sz="1050">
                <a:solidFill>
                  <a:srgbClr val="1F2937"/>
                </a:solidFill>
                <a:latin typeface="Aptos"/>
              </a:rPr>
              <a:t>After prompt/skill/memory updates, the daemon runs `optimize_harness()`.</a:t>
            </a:r>
          </a:p>
          <a:p>
            <a:pPr algn="l"/>
            <a:r>
              <a:rPr sz="1050">
                <a:solidFill>
                  <a:srgbClr val="1F2937"/>
                </a:solidFill>
                <a:latin typeface="Aptos"/>
              </a:rPr>
              <a:t>It reads grading summaries + trace evidence, proposes parameter changes to `HarnessConfig`, validates and clamps them, saves a new harness version, and future agent runs automatically load `load_best()` from the harness store.</a:t>
            </a:r>
          </a:p>
          <a:p>
            <a:pPr algn="l"/>
            <a:endParaRPr sz="1050">
              <a:solidFill>
                <a:srgbClr val="1F2937"/>
              </a:solidFill>
              <a:latin typeface="Aptos"/>
            </a:endParaRPr>
          </a:p>
          <a:p>
            <a:pPr algn="l"/>
            <a:r>
              <a:rPr sz="1050">
                <a:solidFill>
                  <a:srgbClr val="1F2937"/>
                </a:solidFill>
                <a:latin typeface="Aptos"/>
              </a:rPr>
              <a:t>Finally the daemon marks the processed run IDs so the same evidence is not replayed forever.</a:t>
            </a:r>
          </a:p>
        </p:txBody>
      </p:sp>
      <p:sp>
        <p:nvSpPr>
          <p:cNvPr id="25" name="TextBox 24"/>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Cold-start path: `src evolve` bootstraps initial versions; daemon handles live improvement after that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How the Harness Gets Updated</a:t>
            </a:r>
          </a:p>
          <a:p>
            <a:r>
              <a:rPr sz="1200">
                <a:solidFill>
                  <a:srgbClr val="4C5B6A"/>
                </a:solidFill>
                <a:latin typeface="Aptos"/>
              </a:rPr>
              <a:t>This is the most explicit embodiment of the Meta-Harness idea in the project.</a:t>
            </a:r>
          </a:p>
        </p:txBody>
      </p:sp>
      <p:sp>
        <p:nvSpPr>
          <p:cNvPr id="3" name="Rounded Rectangle 2"/>
          <p:cNvSpPr/>
          <p:nvPr/>
        </p:nvSpPr>
        <p:spPr>
          <a:xfrm>
            <a:off x="594360" y="1371600"/>
            <a:ext cx="2743200" cy="1697420"/>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417320"/>
            <a:ext cx="2651760"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Diagnostic inputs</a:t>
            </a:r>
          </a:p>
        </p:txBody>
      </p:sp>
      <p:sp>
        <p:nvSpPr>
          <p:cNvPr id="5" name="TextBox 4"/>
          <p:cNvSpPr txBox="1"/>
          <p:nvPr/>
        </p:nvSpPr>
        <p:spPr>
          <a:xfrm>
            <a:off x="722376" y="1801368"/>
            <a:ext cx="2487168" cy="1033271"/>
          </a:xfrm>
          <a:prstGeom prst="rect">
            <a:avLst/>
          </a:prstGeom>
          <a:noFill/>
        </p:spPr>
        <p:txBody>
          <a:bodyPr wrap="square">
            <a:spAutoFit/>
          </a:bodyPr>
          <a:lstStyle/>
          <a:p>
            <a:pPr algn="l"/>
            <a:r>
              <a:rPr sz="1050">
                <a:solidFill>
                  <a:srgbClr val="1F2937"/>
                </a:solidFill>
                <a:latin typeface="Aptos"/>
              </a:rPr>
              <a:t>Run-log entries provide average scores, classifications, and per-grader reasons.</a:t>
            </a:r>
          </a:p>
          <a:p>
            <a:pPr algn="l"/>
            <a:r>
              <a:rPr sz="1050">
                <a:solidFill>
                  <a:srgbClr val="1F2937"/>
                </a:solidFill>
                <a:latin typeface="Aptos"/>
              </a:rPr>
              <a:t>Trace fetcher prefers LangSmith traces and falls back to local JSON traces.</a:t>
            </a:r>
          </a:p>
          <a:p>
            <a:pPr algn="l"/>
            <a:r>
              <a:rPr sz="1050">
                <a:solidFill>
                  <a:srgbClr val="1F2937"/>
                </a:solidFill>
                <a:latin typeface="Aptos"/>
              </a:rPr>
              <a:t>The optimizer sees both metric summaries and execution details.</a:t>
            </a:r>
          </a:p>
        </p:txBody>
      </p:sp>
      <p:sp>
        <p:nvSpPr>
          <p:cNvPr id="6" name="Rounded Rectangle 5"/>
          <p:cNvSpPr/>
          <p:nvPr/>
        </p:nvSpPr>
        <p:spPr>
          <a:xfrm>
            <a:off x="3611880" y="1371599"/>
            <a:ext cx="2743200" cy="1697421"/>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57600" y="1417320"/>
            <a:ext cx="2651760"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LLM proposal phase</a:t>
            </a:r>
          </a:p>
        </p:txBody>
      </p:sp>
      <p:sp>
        <p:nvSpPr>
          <p:cNvPr id="8" name="TextBox 7"/>
          <p:cNvSpPr txBox="1"/>
          <p:nvPr/>
        </p:nvSpPr>
        <p:spPr>
          <a:xfrm>
            <a:off x="3739896" y="1801368"/>
            <a:ext cx="2487168" cy="1033271"/>
          </a:xfrm>
          <a:prstGeom prst="rect">
            <a:avLst/>
          </a:prstGeom>
          <a:noFill/>
        </p:spPr>
        <p:txBody>
          <a:bodyPr wrap="square">
            <a:spAutoFit/>
          </a:bodyPr>
          <a:lstStyle/>
          <a:p>
            <a:pPr algn="l"/>
            <a:r>
              <a:rPr sz="1050">
                <a:solidFill>
                  <a:srgbClr val="1F2937"/>
                </a:solidFill>
                <a:latin typeface="Aptos"/>
              </a:rPr>
              <a:t>The harness optimizer prompt includes:</a:t>
            </a:r>
          </a:p>
          <a:p>
            <a:pPr algn="l"/>
            <a:r>
              <a:rPr sz="1050">
                <a:solidFill>
                  <a:srgbClr val="1F2937"/>
                </a:solidFill>
                <a:latin typeface="Aptos"/>
              </a:rPr>
              <a:t>- current config</a:t>
            </a:r>
          </a:p>
          <a:p>
            <a:pPr algn="l"/>
            <a:r>
              <a:rPr sz="1050">
                <a:solidFill>
                  <a:srgbClr val="1F2937"/>
                </a:solidFill>
                <a:latin typeface="Aptos"/>
              </a:rPr>
              <a:t>- per-dimension failure rates</a:t>
            </a:r>
          </a:p>
          <a:p>
            <a:pPr algn="l"/>
            <a:r>
              <a:rPr sz="1050">
                <a:solidFill>
                  <a:srgbClr val="1F2937"/>
                </a:solidFill>
                <a:latin typeface="Aptos"/>
              </a:rPr>
              <a:t>- top failure reasons</a:t>
            </a:r>
          </a:p>
          <a:p>
            <a:pPr algn="l"/>
            <a:r>
              <a:rPr sz="1050">
                <a:solidFill>
                  <a:srgbClr val="1F2937"/>
                </a:solidFill>
                <a:latin typeface="Aptos"/>
              </a:rPr>
              <a:t>- trace data</a:t>
            </a:r>
          </a:p>
          <a:p>
            <a:pPr algn="l"/>
            <a:r>
              <a:rPr sz="1050">
                <a:solidFill>
                  <a:srgbClr val="1F2937"/>
                </a:solidFill>
                <a:latin typeface="Aptos"/>
              </a:rPr>
              <a:t>The LLM proposes JSON changes rather than free-form code edits.</a:t>
            </a:r>
          </a:p>
        </p:txBody>
      </p:sp>
      <p:sp>
        <p:nvSpPr>
          <p:cNvPr id="9" name="Rounded Rectangle 8"/>
          <p:cNvSpPr/>
          <p:nvPr/>
        </p:nvSpPr>
        <p:spPr>
          <a:xfrm>
            <a:off x="6629400" y="1371600"/>
            <a:ext cx="2194560" cy="169742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75120" y="1417320"/>
            <a:ext cx="210312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Safety layer</a:t>
            </a:r>
          </a:p>
        </p:txBody>
      </p:sp>
      <p:sp>
        <p:nvSpPr>
          <p:cNvPr id="11" name="TextBox 10"/>
          <p:cNvSpPr txBox="1"/>
          <p:nvPr/>
        </p:nvSpPr>
        <p:spPr>
          <a:xfrm>
            <a:off x="6757416" y="1801368"/>
            <a:ext cx="1938528" cy="1033271"/>
          </a:xfrm>
          <a:prstGeom prst="rect">
            <a:avLst/>
          </a:prstGeom>
          <a:noFill/>
        </p:spPr>
        <p:txBody>
          <a:bodyPr wrap="square">
            <a:spAutoFit/>
          </a:bodyPr>
          <a:lstStyle/>
          <a:p>
            <a:pPr algn="l"/>
            <a:r>
              <a:rPr sz="1050">
                <a:solidFill>
                  <a:srgbClr val="1F2937"/>
                </a:solidFill>
                <a:latin typeface="Aptos"/>
              </a:rPr>
              <a:t>Unknown parameters are ignored.</a:t>
            </a:r>
          </a:p>
          <a:p>
            <a:pPr algn="l"/>
            <a:r>
              <a:rPr sz="1050">
                <a:solidFill>
                  <a:srgbClr val="1F2937"/>
                </a:solidFill>
                <a:latin typeface="Aptos"/>
              </a:rPr>
              <a:t>Effort strings are validated.</a:t>
            </a:r>
          </a:p>
          <a:p>
            <a:pPr algn="l"/>
            <a:r>
              <a:rPr sz="1050">
                <a:solidFill>
                  <a:srgbClr val="1F2937"/>
                </a:solidFill>
                <a:latin typeface="Aptos"/>
              </a:rPr>
              <a:t>Numeric values are clamped to safe bounds.</a:t>
            </a:r>
          </a:p>
          <a:p>
            <a:pPr algn="l"/>
            <a:r>
              <a:rPr sz="1050">
                <a:solidFill>
                  <a:srgbClr val="1F2937"/>
                </a:solidFill>
                <a:latin typeface="Aptos"/>
              </a:rPr>
              <a:t>Invalid candidates are dropped.</a:t>
            </a:r>
          </a:p>
        </p:txBody>
      </p:sp>
      <p:sp>
        <p:nvSpPr>
          <p:cNvPr id="12" name="Rounded Rectangle 11"/>
          <p:cNvSpPr/>
          <p:nvPr/>
        </p:nvSpPr>
        <p:spPr>
          <a:xfrm>
            <a:off x="9098280" y="1371599"/>
            <a:ext cx="2194560" cy="1697419"/>
          </a:xfrm>
          <a:prstGeom prst="roundRect">
            <a:avLst/>
          </a:prstGeom>
          <a:solidFill>
            <a:srgbClr val="FFFFFF"/>
          </a:solidFill>
          <a:ln w="16510">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0" y="1417320"/>
            <a:ext cx="2103120" cy="329184"/>
          </a:xfrm>
          <a:prstGeom prst="roundRect">
            <a:avLst/>
          </a:prstGeom>
          <a:solidFill>
            <a:srgbClr val="B83F45"/>
          </a:solidFill>
          <a:ln>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Selection strategy</a:t>
            </a:r>
          </a:p>
        </p:txBody>
      </p:sp>
      <p:sp>
        <p:nvSpPr>
          <p:cNvPr id="14" name="TextBox 13"/>
          <p:cNvSpPr txBox="1"/>
          <p:nvPr/>
        </p:nvSpPr>
        <p:spPr>
          <a:xfrm>
            <a:off x="9226296" y="1801368"/>
            <a:ext cx="1938528" cy="1033271"/>
          </a:xfrm>
          <a:prstGeom prst="rect">
            <a:avLst/>
          </a:prstGeom>
          <a:noFill/>
        </p:spPr>
        <p:txBody>
          <a:bodyPr wrap="square">
            <a:spAutoFit/>
          </a:bodyPr>
          <a:lstStyle/>
          <a:p>
            <a:pPr algn="l"/>
            <a:r>
              <a:rPr sz="1050">
                <a:solidFill>
                  <a:srgbClr val="1F2937"/>
                </a:solidFill>
                <a:latin typeface="Aptos"/>
              </a:rPr>
              <a:t>Generate multiple candidates and choose the most conservative one: the proposal with the fewest actual changes.</a:t>
            </a:r>
          </a:p>
        </p:txBody>
      </p:sp>
      <p:sp>
        <p:nvSpPr>
          <p:cNvPr id="15" name="Rounded Rectangle 14"/>
          <p:cNvSpPr/>
          <p:nvPr/>
        </p:nvSpPr>
        <p:spPr>
          <a:xfrm>
            <a:off x="868680" y="3383280"/>
            <a:ext cx="10789920" cy="1965960"/>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What can evolve</a:t>
            </a:r>
          </a:p>
          <a:p>
            <a:r>
              <a:rPr sz="1050">
                <a:solidFill>
                  <a:srgbClr val="1F2937"/>
                </a:solidFill>
                <a:latin typeface="Aptos"/>
              </a:rPr>
              <a:t>Middleware behavior:</a:t>
            </a:r>
          </a:p>
          <a:p>
            <a:r>
              <a:rPr sz="1050">
                <a:solidFill>
                  <a:srgbClr val="1F2937"/>
                </a:solidFill>
                <a:latin typeface="Aptos"/>
              </a:rPr>
              <a:t>`max_retries`, `min_length`, `verify_against_task`, `required_sections`, `completion_checks`, `max_similar`, `max_total`, `max_file_edits`, `max_repeated_tools`, `budget_seconds`, `warn_at`, `planning_effort`, `implementation_effort`, `verification_effort`, `planning_calls`, `detect_env`.</a:t>
            </a:r>
          </a:p>
          <a:p>
            <a:endParaRPr sz="1050">
              <a:solidFill>
                <a:srgbClr val="1F2937"/>
              </a:solidFill>
              <a:latin typeface="Aptos"/>
            </a:endParaRPr>
          </a:p>
          <a:p>
            <a:r>
              <a:rPr sz="1050">
                <a:solidFill>
                  <a:srgbClr val="1F2937"/>
                </a:solidFill>
                <a:latin typeface="Aptos"/>
              </a:rPr>
              <a:t>Tool behavior:</a:t>
            </a:r>
          </a:p>
          <a:p>
            <a:r>
              <a:rPr sz="1050">
                <a:solidFill>
                  <a:srgbClr val="1F2937"/>
                </a:solidFill>
                <a:latin typeface="Aptos"/>
              </a:rPr>
              <a:t>`search_max_retries`, `search_retry_delay`, `search_max_results`, `search_depth`.</a:t>
            </a:r>
          </a:p>
          <a:p>
            <a:endParaRPr sz="1050">
              <a:solidFill>
                <a:srgbClr val="1F2937"/>
              </a:solidFill>
              <a:latin typeface="Aptos"/>
            </a:endParaRPr>
          </a:p>
          <a:p>
            <a:r>
              <a:rPr sz="1050">
                <a:solidFill>
                  <a:srgbClr val="1F2937"/>
                </a:solidFill>
                <a:latin typeface="Aptos"/>
              </a:rPr>
              <a:t>Because the search tool is created with `harness_cfg`, tool-level behavior and harness-level behavior evolve together.</a:t>
            </a:r>
          </a:p>
        </p:txBody>
      </p:sp>
      <p:sp>
        <p:nvSpPr>
          <p:cNvPr id="16" name="TextBox 15"/>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Updated harness versions are JSON config files, so rollback and inspection stay simple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How Context Evolves Dynamically</a:t>
            </a:r>
          </a:p>
          <a:p>
            <a:r>
              <a:rPr sz="1200">
                <a:solidFill>
                  <a:srgbClr val="4C5B6A"/>
                </a:solidFill>
                <a:latin typeface="Aptos"/>
              </a:rPr>
              <a:t>The project learns in token space: prompts, skills, memories, and meta-instructions are treated as mutable context.</a:t>
            </a:r>
          </a:p>
        </p:txBody>
      </p:sp>
      <p:sp>
        <p:nvSpPr>
          <p:cNvPr id="3" name="Rounded Rectangle 2"/>
          <p:cNvSpPr/>
          <p:nvPr/>
        </p:nvSpPr>
        <p:spPr>
          <a:xfrm>
            <a:off x="502920" y="1417320"/>
            <a:ext cx="2788920" cy="2011680"/>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463040"/>
            <a:ext cx="2697479"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Prompt evolution</a:t>
            </a:r>
          </a:p>
        </p:txBody>
      </p:sp>
      <p:sp>
        <p:nvSpPr>
          <p:cNvPr id="5" name="TextBox 4"/>
          <p:cNvSpPr txBox="1"/>
          <p:nvPr/>
        </p:nvSpPr>
        <p:spPr>
          <a:xfrm>
            <a:off x="630936" y="1847088"/>
            <a:ext cx="2532887" cy="1261872"/>
          </a:xfrm>
          <a:prstGeom prst="rect">
            <a:avLst/>
          </a:prstGeom>
          <a:noFill/>
        </p:spPr>
        <p:txBody>
          <a:bodyPr wrap="square">
            <a:spAutoFit/>
          </a:bodyPr>
          <a:lstStyle/>
          <a:p>
            <a:pPr algn="l"/>
            <a:r>
              <a:rPr sz="1050">
                <a:solidFill>
                  <a:srgbClr val="1F2937"/>
                </a:solidFill>
                <a:latin typeface="Aptos"/>
              </a:rPr>
              <a:t>Prompt versions live in `prompts/v*.json`.</a:t>
            </a:r>
          </a:p>
          <a:p>
            <a:pPr algn="l"/>
            <a:r>
              <a:rPr sz="1050">
                <a:solidFill>
                  <a:srgbClr val="1F2937"/>
                </a:solidFill>
                <a:latin typeface="Aptos"/>
              </a:rPr>
              <a:t>Each run updates the current version's score.</a:t>
            </a:r>
          </a:p>
          <a:p>
            <a:pPr algn="l"/>
            <a:r>
              <a:rPr sz="1050">
                <a:solidFill>
                  <a:srgbClr val="1F2937"/>
                </a:solidFill>
                <a:latin typeface="Aptos"/>
              </a:rPr>
              <a:t>The daemon can add a new prompt version based on failure analysis and learned skills.</a:t>
            </a:r>
          </a:p>
          <a:p>
            <a:pPr algn="l"/>
            <a:r>
              <a:rPr sz="1050">
                <a:solidFill>
                  <a:srgbClr val="1F2937"/>
                </a:solidFill>
                <a:latin typeface="Aptos"/>
              </a:rPr>
              <a:t>`get_current_prompt()` returns the best-scoring prompt.</a:t>
            </a:r>
          </a:p>
        </p:txBody>
      </p:sp>
      <p:sp>
        <p:nvSpPr>
          <p:cNvPr id="6" name="Rounded Rectangle 5"/>
          <p:cNvSpPr/>
          <p:nvPr/>
        </p:nvSpPr>
        <p:spPr>
          <a:xfrm>
            <a:off x="3520440" y="1417320"/>
            <a:ext cx="2788920" cy="2011680"/>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566160" y="1463040"/>
            <a:ext cx="2697479"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Skill evolution</a:t>
            </a:r>
          </a:p>
        </p:txBody>
      </p:sp>
      <p:sp>
        <p:nvSpPr>
          <p:cNvPr id="8" name="TextBox 7"/>
          <p:cNvSpPr txBox="1"/>
          <p:nvPr/>
        </p:nvSpPr>
        <p:spPr>
          <a:xfrm>
            <a:off x="3648456" y="1847088"/>
            <a:ext cx="2532887" cy="1261872"/>
          </a:xfrm>
          <a:prstGeom prst="rect">
            <a:avLst/>
          </a:prstGeom>
          <a:noFill/>
        </p:spPr>
        <p:txBody>
          <a:bodyPr wrap="square">
            <a:spAutoFit/>
          </a:bodyPr>
          <a:lstStyle/>
          <a:p>
            <a:pPr algn="l"/>
            <a:r>
              <a:rPr sz="1050">
                <a:solidFill>
                  <a:srgbClr val="1F2937"/>
                </a:solidFill>
                <a:latin typeface="Aptos"/>
              </a:rPr>
              <a:t>Success runs create reusable skills.</a:t>
            </a:r>
          </a:p>
          <a:p>
            <a:pPr algn="l"/>
            <a:r>
              <a:rPr sz="1050">
                <a:solidFill>
                  <a:srgbClr val="1F2937"/>
                </a:solidFill>
                <a:latin typeface="Aptos"/>
              </a:rPr>
              <a:t>Failure runs create defensive skills.</a:t>
            </a:r>
          </a:p>
          <a:p>
            <a:pPr algn="l"/>
            <a:r>
              <a:rPr sz="1050">
                <a:solidFill>
                  <a:srgbClr val="1F2937"/>
                </a:solidFill>
                <a:latin typeface="Aptos"/>
              </a:rPr>
              <a:t>`ContextAssemblyMiddleware` discovers skills and injects the available skill catalog into the first model call.</a:t>
            </a:r>
          </a:p>
        </p:txBody>
      </p:sp>
      <p:sp>
        <p:nvSpPr>
          <p:cNvPr id="9" name="Rounded Rectangle 8"/>
          <p:cNvSpPr/>
          <p:nvPr/>
        </p:nvSpPr>
        <p:spPr>
          <a:xfrm>
            <a:off x="6537960" y="1417320"/>
            <a:ext cx="2514600" cy="201168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583680" y="1463040"/>
            <a:ext cx="242316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Memory evolution</a:t>
            </a:r>
          </a:p>
        </p:txBody>
      </p:sp>
      <p:sp>
        <p:nvSpPr>
          <p:cNvPr id="11" name="TextBox 10"/>
          <p:cNvSpPr txBox="1"/>
          <p:nvPr/>
        </p:nvSpPr>
        <p:spPr>
          <a:xfrm>
            <a:off x="6665976" y="1847088"/>
            <a:ext cx="2258568" cy="1261872"/>
          </a:xfrm>
          <a:prstGeom prst="rect">
            <a:avLst/>
          </a:prstGeom>
          <a:noFill/>
        </p:spPr>
        <p:txBody>
          <a:bodyPr wrap="square">
            <a:spAutoFit/>
          </a:bodyPr>
          <a:lstStyle/>
          <a:p>
            <a:pPr algn="l"/>
            <a:r>
              <a:rPr sz="1050">
                <a:solidFill>
                  <a:srgbClr val="1F2937"/>
                </a:solidFill>
                <a:latin typeface="Aptos"/>
              </a:rPr>
              <a:t>Reflection stores episodic summaries and semantic facts/patterns.</a:t>
            </a:r>
          </a:p>
          <a:p>
            <a:pPr algn="l"/>
            <a:r>
              <a:rPr sz="1050">
                <a:solidFill>
                  <a:srgbClr val="1F2937"/>
                </a:solidFill>
                <a:latin typeface="Aptos"/>
              </a:rPr>
              <a:t>Compression prioritizes meta-instructions, then learned patterns, then recent run summaries under a token budget.</a:t>
            </a:r>
          </a:p>
        </p:txBody>
      </p:sp>
      <p:sp>
        <p:nvSpPr>
          <p:cNvPr id="12" name="Rounded Rectangle 11"/>
          <p:cNvSpPr/>
          <p:nvPr/>
        </p:nvSpPr>
        <p:spPr>
          <a:xfrm>
            <a:off x="9281160" y="1417320"/>
            <a:ext cx="2331720" cy="2011680"/>
          </a:xfrm>
          <a:prstGeom prst="roundRect">
            <a:avLst/>
          </a:prstGeom>
          <a:solidFill>
            <a:srgbClr val="FFFFFF"/>
          </a:solidFill>
          <a:ln w="16510">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326880" y="1463040"/>
            <a:ext cx="2240279" cy="329184"/>
          </a:xfrm>
          <a:prstGeom prst="roundRect">
            <a:avLst/>
          </a:prstGeom>
          <a:solidFill>
            <a:srgbClr val="B83F45"/>
          </a:solidFill>
          <a:ln>
            <a:solidFill>
              <a:srgbClr val="B8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Sleep-time review</a:t>
            </a:r>
          </a:p>
        </p:txBody>
      </p:sp>
      <p:sp>
        <p:nvSpPr>
          <p:cNvPr id="14" name="TextBox 13"/>
          <p:cNvSpPr txBox="1"/>
          <p:nvPr/>
        </p:nvSpPr>
        <p:spPr>
          <a:xfrm>
            <a:off x="9409176" y="1847088"/>
            <a:ext cx="2075687" cy="1261872"/>
          </a:xfrm>
          <a:prstGeom prst="rect">
            <a:avLst/>
          </a:prstGeom>
          <a:noFill/>
        </p:spPr>
        <p:txBody>
          <a:bodyPr wrap="square">
            <a:spAutoFit/>
          </a:bodyPr>
          <a:lstStyle/>
          <a:p>
            <a:pPr algn="l"/>
            <a:r>
              <a:rPr sz="1050">
                <a:solidFill>
                  <a:srgbClr val="1F2937"/>
                </a:solidFill>
                <a:latin typeface="Aptos"/>
              </a:rPr>
              <a:t>Cross-run trace analysis writes `meta_instruction` memories and can remove contradictory semantic memories.</a:t>
            </a:r>
          </a:p>
        </p:txBody>
      </p:sp>
      <p:sp>
        <p:nvSpPr>
          <p:cNvPr id="15" name="Rounded Rectangle 14"/>
          <p:cNvSpPr/>
          <p:nvPr/>
        </p:nvSpPr>
        <p:spPr>
          <a:xfrm>
            <a:off x="822960" y="3657600"/>
            <a:ext cx="10698480" cy="1691640"/>
          </a:xfrm>
          <a:prstGeom prst="roundRect">
            <a:avLst/>
          </a:prstGeom>
          <a:solidFill>
            <a:srgbClr val="FCFCFC"/>
          </a:solidFill>
          <a:ln w="16510">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68680" y="3703320"/>
            <a:ext cx="10607040" cy="329184"/>
          </a:xfrm>
          <a:prstGeom prst="round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Injection path back into the next run</a:t>
            </a:r>
          </a:p>
        </p:txBody>
      </p:sp>
      <p:sp>
        <p:nvSpPr>
          <p:cNvPr id="17" name="TextBox 16"/>
          <p:cNvSpPr txBox="1"/>
          <p:nvPr/>
        </p:nvSpPr>
        <p:spPr>
          <a:xfrm>
            <a:off x="950976" y="4087368"/>
            <a:ext cx="10442448" cy="1216152"/>
          </a:xfrm>
          <a:prstGeom prst="rect">
            <a:avLst/>
          </a:prstGeom>
          <a:noFill/>
        </p:spPr>
        <p:txBody>
          <a:bodyPr wrap="square">
            <a:spAutoFit/>
          </a:bodyPr>
          <a:lstStyle/>
          <a:p>
            <a:pPr algn="l"/>
            <a:r>
              <a:rPr sz="1050">
                <a:solidFill>
                  <a:srgbClr val="1F2937"/>
                </a:solidFill>
                <a:latin typeface="Aptos"/>
              </a:rPr>
              <a:t>1. `create_agent()` calls `compress_context(memory_store, task, token_budget)`.</a:t>
            </a:r>
          </a:p>
          <a:p>
            <a:pPr algn="l"/>
            <a:r>
              <a:rPr sz="1050">
                <a:solidFill>
                  <a:srgbClr val="1F2937"/>
                </a:solidFill>
                <a:latin typeface="Aptos"/>
              </a:rPr>
              <a:t>2. The compressed memory string is inserted into the prompt template via `{memory_context}`.</a:t>
            </a:r>
          </a:p>
          <a:p>
            <a:pPr algn="l"/>
            <a:r>
              <a:rPr sz="1050">
                <a:solidFill>
                  <a:srgbClr val="1F2937"/>
                </a:solidFill>
                <a:latin typeface="Aptos"/>
              </a:rPr>
              <a:t>3. `ContextAssemblyMiddleware.before_model()` adds environment context and available skill descriptions on the first model call.</a:t>
            </a:r>
          </a:p>
          <a:p>
            <a:pPr algn="l"/>
            <a:r>
              <a:rPr sz="1050">
                <a:solidFill>
                  <a:srgbClr val="1F2937"/>
                </a:solidFill>
                <a:latin typeface="Aptos"/>
              </a:rPr>
              <a:t>4. The result is a run-time prompt that already contains the system's latest learned strategy, facts, and reusable tactics before the model makes its first major decision.</a:t>
            </a:r>
          </a:p>
        </p:txBody>
      </p:sp>
      <p:sp>
        <p:nvSpPr>
          <p:cNvPr id="18" name="TextBox 17"/>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The model weights stay fixed; the context around the model changes continuously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Role of LangSmith Traces</a:t>
            </a:r>
          </a:p>
          <a:p>
            <a:r>
              <a:rPr sz="1200">
                <a:solidFill>
                  <a:srgbClr val="4C5B6A"/>
                </a:solidFill>
                <a:latin typeface="Aptos"/>
              </a:rPr>
              <a:t>LangSmith is used as the high-fidelity observation layer for improving the agent.</a:t>
            </a:r>
          </a:p>
        </p:txBody>
      </p:sp>
      <p:sp>
        <p:nvSpPr>
          <p:cNvPr id="3" name="Rounded Rectangle 2"/>
          <p:cNvSpPr/>
          <p:nvPr/>
        </p:nvSpPr>
        <p:spPr>
          <a:xfrm>
            <a:off x="594360" y="1371600"/>
            <a:ext cx="3474720" cy="1783080"/>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417320"/>
            <a:ext cx="3383279"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TraceFetcher behavior</a:t>
            </a:r>
          </a:p>
        </p:txBody>
      </p:sp>
      <p:sp>
        <p:nvSpPr>
          <p:cNvPr id="5" name="TextBox 4"/>
          <p:cNvSpPr txBox="1"/>
          <p:nvPr/>
        </p:nvSpPr>
        <p:spPr>
          <a:xfrm>
            <a:off x="722376" y="1801368"/>
            <a:ext cx="3218687" cy="1307592"/>
          </a:xfrm>
          <a:prstGeom prst="rect">
            <a:avLst/>
          </a:prstGeom>
          <a:noFill/>
        </p:spPr>
        <p:txBody>
          <a:bodyPr wrap="square">
            <a:spAutoFit/>
          </a:bodyPr>
          <a:lstStyle/>
          <a:p>
            <a:pPr algn="l"/>
            <a:r>
              <a:rPr sz="1050">
                <a:solidFill>
                  <a:srgbClr val="1F2937"/>
                </a:solidFill>
                <a:latin typeface="Aptos"/>
              </a:rPr>
              <a:t>Lazy-initializes a LangSmith client from project settings.</a:t>
            </a:r>
          </a:p>
          <a:p>
            <a:pPr algn="l"/>
            <a:r>
              <a:rPr sz="1050">
                <a:solidFill>
                  <a:srgbClr val="1F2937"/>
                </a:solidFill>
                <a:latin typeface="Aptos"/>
              </a:rPr>
              <a:t>Can fetch recent root runs, full descendant traces for a run, traces matching a task prefix, or batched traces for run-log entries.</a:t>
            </a:r>
          </a:p>
          <a:p>
            <a:pPr algn="l"/>
            <a:r>
              <a:rPr sz="1050">
                <a:solidFill>
                  <a:srgbClr val="1F2937"/>
                </a:solidFill>
                <a:latin typeface="Aptos"/>
              </a:rPr>
              <a:t>Falls back to local trace JSON when unavailable.</a:t>
            </a:r>
          </a:p>
        </p:txBody>
      </p:sp>
      <p:sp>
        <p:nvSpPr>
          <p:cNvPr id="6" name="Rounded Rectangle 5"/>
          <p:cNvSpPr/>
          <p:nvPr/>
        </p:nvSpPr>
        <p:spPr>
          <a:xfrm>
            <a:off x="4343400" y="1371600"/>
            <a:ext cx="3474720" cy="1783080"/>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1417320"/>
            <a:ext cx="3383279"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Prompt optimizer use</a:t>
            </a:r>
          </a:p>
        </p:txBody>
      </p:sp>
      <p:sp>
        <p:nvSpPr>
          <p:cNvPr id="8" name="TextBox 7"/>
          <p:cNvSpPr txBox="1"/>
          <p:nvPr/>
        </p:nvSpPr>
        <p:spPr>
          <a:xfrm>
            <a:off x="4471416" y="1801368"/>
            <a:ext cx="3218687" cy="1307592"/>
          </a:xfrm>
          <a:prstGeom prst="rect">
            <a:avLst/>
          </a:prstGeom>
          <a:noFill/>
        </p:spPr>
        <p:txBody>
          <a:bodyPr wrap="square">
            <a:spAutoFit/>
          </a:bodyPr>
          <a:lstStyle/>
          <a:p>
            <a:pPr algn="l"/>
            <a:r>
              <a:rPr sz="1050">
                <a:solidFill>
                  <a:srgbClr val="1F2937"/>
                </a:solidFill>
                <a:latin typeface="Aptos"/>
              </a:rPr>
              <a:t>Failed and partial runs are paired with rich traces.</a:t>
            </a:r>
          </a:p>
          <a:p>
            <a:pPr algn="l"/>
            <a:r>
              <a:rPr sz="1050">
                <a:solidFill>
                  <a:srgbClr val="1F2937"/>
                </a:solidFill>
                <a:latin typeface="Aptos"/>
              </a:rPr>
              <a:t>Trace digests surface search queries, errors, tool-call decisions, and timing behavior.</a:t>
            </a:r>
          </a:p>
          <a:p>
            <a:pPr algn="l"/>
            <a:r>
              <a:rPr sz="1050">
                <a:solidFill>
                  <a:srgbClr val="1F2937"/>
                </a:solidFill>
                <a:latin typeface="Aptos"/>
              </a:rPr>
              <a:t>That gives the metaprompt more specific failure diagnoses than score summaries alone.</a:t>
            </a:r>
          </a:p>
        </p:txBody>
      </p:sp>
      <p:sp>
        <p:nvSpPr>
          <p:cNvPr id="9" name="Rounded Rectangle 8"/>
          <p:cNvSpPr/>
          <p:nvPr/>
        </p:nvSpPr>
        <p:spPr>
          <a:xfrm>
            <a:off x="8092440" y="1371600"/>
            <a:ext cx="3474720" cy="178308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138160" y="1417320"/>
            <a:ext cx="3383279"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Harness optimizer use</a:t>
            </a:r>
          </a:p>
        </p:txBody>
      </p:sp>
      <p:sp>
        <p:nvSpPr>
          <p:cNvPr id="11" name="TextBox 10"/>
          <p:cNvSpPr txBox="1"/>
          <p:nvPr/>
        </p:nvSpPr>
        <p:spPr>
          <a:xfrm>
            <a:off x="8220456" y="1801368"/>
            <a:ext cx="3218687" cy="1307592"/>
          </a:xfrm>
          <a:prstGeom prst="rect">
            <a:avLst/>
          </a:prstGeom>
          <a:noFill/>
        </p:spPr>
        <p:txBody>
          <a:bodyPr wrap="square">
            <a:spAutoFit/>
          </a:bodyPr>
          <a:lstStyle/>
          <a:p>
            <a:pPr algn="l"/>
            <a:r>
              <a:rPr sz="1050">
                <a:solidFill>
                  <a:srgbClr val="1F2937"/>
                </a:solidFill>
                <a:latin typeface="Aptos"/>
              </a:rPr>
              <a:t>The harness optimizer sees the current config, per-dimension failure stats, and trace evidence.</a:t>
            </a:r>
          </a:p>
          <a:p>
            <a:pPr algn="l"/>
            <a:r>
              <a:rPr sz="1050">
                <a:solidFill>
                  <a:srgbClr val="1F2937"/>
                </a:solidFill>
                <a:latin typeface="Aptos"/>
              </a:rPr>
              <a:t>This is how tool retry counts, loop thresholds, reasoning allocation, and completion checks get tuned based on actual behavior.</a:t>
            </a:r>
          </a:p>
        </p:txBody>
      </p:sp>
      <p:sp>
        <p:nvSpPr>
          <p:cNvPr id="12" name="Rounded Rectangle 11"/>
          <p:cNvSpPr/>
          <p:nvPr/>
        </p:nvSpPr>
        <p:spPr>
          <a:xfrm>
            <a:off x="960120" y="3657600"/>
            <a:ext cx="10241280" cy="1600200"/>
          </a:xfrm>
          <a:prstGeom prst="roundRect">
            <a:avLst/>
          </a:prstGeom>
          <a:solidFill>
            <a:srgbClr val="FCFCFC"/>
          </a:solidFill>
          <a:ln w="16510">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E2240"/>
                </a:solidFill>
                <a:latin typeface="Aptos"/>
              </a:rPr>
              <a:t>Why traces matter architecturally</a:t>
            </a:r>
          </a:p>
          <a:p>
            <a:r>
              <a:rPr sz="1050">
                <a:solidFill>
                  <a:srgbClr val="1F2937"/>
                </a:solidFill>
                <a:latin typeface="Aptos"/>
              </a:rPr>
              <a:t>Scores tell the system that something was wrong; traces tell it what actually happened.</a:t>
            </a:r>
          </a:p>
          <a:p>
            <a:r>
              <a:rPr sz="1050">
                <a:solidFill>
                  <a:srgbClr val="1F2937"/>
                </a:solidFill>
                <a:latin typeface="Aptos"/>
              </a:rPr>
              <a:t>The project uses LangSmith traces as the bridge from opaque outcome metrics to actionable prompt and harness updates. That is the main reason the system can do continuous improvement without retraining the model.</a:t>
            </a:r>
          </a:p>
        </p:txBody>
      </p:sp>
      <p:sp>
        <p:nvSpPr>
          <p:cNvPr id="13" name="TextBox 12"/>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If LangSmith is absent, the system degrades gracefully to local trace files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Closed-Loop Dynamic Evolution</a:t>
            </a:r>
          </a:p>
          <a:p>
            <a:r>
              <a:rPr sz="1200">
                <a:solidFill>
                  <a:srgbClr val="4C5B6A"/>
                </a:solidFill>
                <a:latin typeface="Aptos"/>
              </a:rPr>
              <a:t>The architecture is best understood as a multi-speed feedback system.</a:t>
            </a:r>
          </a:p>
        </p:txBody>
      </p:sp>
      <p:sp>
        <p:nvSpPr>
          <p:cNvPr id="3" name="Rounded Rectangle 2"/>
          <p:cNvSpPr/>
          <p:nvPr/>
        </p:nvSpPr>
        <p:spPr>
          <a:xfrm>
            <a:off x="502920" y="1417320"/>
            <a:ext cx="3520440" cy="3611880"/>
          </a:xfrm>
          <a:prstGeom prst="roundRect">
            <a:avLst/>
          </a:prstGeom>
          <a:solidFill>
            <a:srgbClr val="E9F2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463040"/>
            <a:ext cx="3429000"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Fast loop: per task</a:t>
            </a:r>
          </a:p>
        </p:txBody>
      </p:sp>
      <p:sp>
        <p:nvSpPr>
          <p:cNvPr id="5" name="TextBox 4"/>
          <p:cNvSpPr txBox="1"/>
          <p:nvPr/>
        </p:nvSpPr>
        <p:spPr>
          <a:xfrm>
            <a:off x="630936" y="1847088"/>
            <a:ext cx="3264408" cy="3136392"/>
          </a:xfrm>
          <a:prstGeom prst="rect">
            <a:avLst/>
          </a:prstGeom>
          <a:noFill/>
        </p:spPr>
        <p:txBody>
          <a:bodyPr wrap="square">
            <a:spAutoFit/>
          </a:bodyPr>
          <a:lstStyle/>
          <a:p>
            <a:pPr algn="l"/>
            <a:r>
              <a:rPr sz="1050">
                <a:solidFill>
                  <a:srgbClr val="1F2937"/>
                </a:solidFill>
                <a:latin typeface="Aptos"/>
              </a:rPr>
              <a:t>Input task.</a:t>
            </a:r>
          </a:p>
          <a:p>
            <a:pPr algn="l"/>
            <a:r>
              <a:rPr sz="1050">
                <a:solidFill>
                  <a:srgbClr val="1F2937"/>
                </a:solidFill>
                <a:latin typeface="Aptos"/>
              </a:rPr>
              <a:t>Agent runs with best prompt + best harness config + current skills + compressed memory.</a:t>
            </a:r>
          </a:p>
          <a:p>
            <a:pPr algn="l"/>
            <a:r>
              <a:rPr sz="1050">
                <a:solidFill>
                  <a:srgbClr val="1F2937"/>
                </a:solidFill>
                <a:latin typeface="Aptos"/>
              </a:rPr>
              <a:t>Middleware shapes execution in real time.</a:t>
            </a:r>
          </a:p>
          <a:p>
            <a:pPr algn="l"/>
            <a:r>
              <a:rPr sz="1050">
                <a:solidFill>
                  <a:srgbClr val="1F2937"/>
                </a:solidFill>
                <a:latin typeface="Aptos"/>
              </a:rPr>
              <a:t>Grading, scoring, reflection, trace capture, and run-log append happen immediately.</a:t>
            </a:r>
          </a:p>
        </p:txBody>
      </p:sp>
      <p:sp>
        <p:nvSpPr>
          <p:cNvPr id="6" name="Rounded Rectangle 5"/>
          <p:cNvSpPr/>
          <p:nvPr/>
        </p:nvSpPr>
        <p:spPr>
          <a:xfrm>
            <a:off x="4343400" y="1417320"/>
            <a:ext cx="3520440" cy="3611880"/>
          </a:xfrm>
          <a:prstGeom prst="roundRect">
            <a:avLst/>
          </a:prstGeom>
          <a:solidFill>
            <a:srgbClr val="E2F4F1"/>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0" y="1463040"/>
            <a:ext cx="3429000"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Medium loop: background daemon</a:t>
            </a:r>
          </a:p>
        </p:txBody>
      </p:sp>
      <p:sp>
        <p:nvSpPr>
          <p:cNvPr id="8" name="TextBox 7"/>
          <p:cNvSpPr txBox="1"/>
          <p:nvPr/>
        </p:nvSpPr>
        <p:spPr>
          <a:xfrm>
            <a:off x="4471416" y="1847088"/>
            <a:ext cx="3264408" cy="3136392"/>
          </a:xfrm>
          <a:prstGeom prst="rect">
            <a:avLst/>
          </a:prstGeom>
          <a:noFill/>
        </p:spPr>
        <p:txBody>
          <a:bodyPr wrap="square">
            <a:spAutoFit/>
          </a:bodyPr>
          <a:lstStyle/>
          <a:p>
            <a:pPr algn="l"/>
            <a:r>
              <a:rPr sz="1050">
                <a:solidFill>
                  <a:srgbClr val="1F2937"/>
                </a:solidFill>
                <a:latin typeface="Aptos"/>
              </a:rPr>
              <a:t>When enough fresh runs accumulate, the daemon turns evidence into updated prompt versions, new skills, compressed memory, and new harness configs.</a:t>
            </a:r>
          </a:p>
          <a:p>
            <a:pPr algn="l"/>
            <a:r>
              <a:rPr sz="1050">
                <a:solidFill>
                  <a:srgbClr val="1F2937"/>
                </a:solidFill>
                <a:latin typeface="Aptos"/>
              </a:rPr>
              <a:t>Those artifacts become part of the next serving run automatically.</a:t>
            </a:r>
          </a:p>
        </p:txBody>
      </p:sp>
      <p:sp>
        <p:nvSpPr>
          <p:cNvPr id="9" name="Rounded Rectangle 8"/>
          <p:cNvSpPr/>
          <p:nvPr/>
        </p:nvSpPr>
        <p:spPr>
          <a:xfrm>
            <a:off x="8183879" y="1417320"/>
            <a:ext cx="3520440" cy="3611880"/>
          </a:xfrm>
          <a:prstGeom prst="roundRect">
            <a:avLst/>
          </a:prstGeom>
          <a:solidFill>
            <a:srgbClr val="FFF4E2"/>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9600" y="1463040"/>
            <a:ext cx="342900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Slow loop: outer loop</a:t>
            </a:r>
          </a:p>
        </p:txBody>
      </p:sp>
      <p:sp>
        <p:nvSpPr>
          <p:cNvPr id="11" name="TextBox 10"/>
          <p:cNvSpPr txBox="1"/>
          <p:nvPr/>
        </p:nvSpPr>
        <p:spPr>
          <a:xfrm>
            <a:off x="8311896" y="1847088"/>
            <a:ext cx="3264408" cy="3136392"/>
          </a:xfrm>
          <a:prstGeom prst="rect">
            <a:avLst/>
          </a:prstGeom>
          <a:noFill/>
        </p:spPr>
        <p:txBody>
          <a:bodyPr wrap="square">
            <a:spAutoFit/>
          </a:bodyPr>
          <a:lstStyle/>
          <a:p>
            <a:pPr algn="l"/>
            <a:r>
              <a:rPr sz="1050">
                <a:solidFill>
                  <a:srgbClr val="1F2937"/>
                </a:solidFill>
                <a:latin typeface="Aptos"/>
              </a:rPr>
              <a:t>When inner-loop improvements plateau, the codebase stores evolution state so a coding agent can make structural changes: new tools, different models, refactors, architecture changes.</a:t>
            </a:r>
          </a:p>
          <a:p>
            <a:pPr algn="l"/>
            <a:r>
              <a:rPr sz="1050">
                <a:solidFill>
                  <a:srgbClr val="1F2937"/>
                </a:solidFill>
                <a:latin typeface="Aptos"/>
              </a:rPr>
              <a:t>This mirrors Karpathy-style code evolution.</a:t>
            </a:r>
          </a:p>
        </p:txBody>
      </p:sp>
      <p:sp>
        <p:nvSpPr>
          <p:cNvPr id="12" name="Rounded Rectangle 11"/>
          <p:cNvSpPr/>
          <p:nvPr/>
        </p:nvSpPr>
        <p:spPr>
          <a:xfrm>
            <a:off x="1828800" y="5440680"/>
            <a:ext cx="8503920" cy="457200"/>
          </a:xfrm>
          <a:prstGeom prst="round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ptos"/>
              </a:rPr>
              <a:t>Net effect: the system changes the instructions, controls, and remembered knowledge around the model until the next task is solved under a better operating regime.</a:t>
            </a:r>
          </a:p>
        </p:txBody>
      </p:sp>
      <p:sp>
        <p:nvSpPr>
          <p:cNvPr id="13" name="TextBox 12"/>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This is continuous systems learning, not one-shot prompt tuning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Key Files to Read</a:t>
            </a:r>
          </a:p>
          <a:p>
            <a:r>
              <a:rPr sz="1200">
                <a:solidFill>
                  <a:srgbClr val="4C5B6A"/>
                </a:solidFill>
                <a:latin typeface="Aptos"/>
              </a:rPr>
              <a:t>These are the implementation anchors behind the architecture.</a:t>
            </a:r>
          </a:p>
        </p:txBody>
      </p:sp>
      <p:sp>
        <p:nvSpPr>
          <p:cNvPr id="3" name="Rounded Rectangle 2"/>
          <p:cNvSpPr/>
          <p:nvPr/>
        </p:nvSpPr>
        <p:spPr>
          <a:xfrm>
            <a:off x="594360" y="1325880"/>
            <a:ext cx="3657600" cy="4389120"/>
          </a:xfrm>
          <a:prstGeom prst="roundRect">
            <a:avLst/>
          </a:prstGeom>
          <a:solidFill>
            <a:srgbClr val="FFFFFF"/>
          </a:solidFill>
          <a:ln w="16510">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371600"/>
            <a:ext cx="3566160" cy="329184"/>
          </a:xfrm>
          <a:prstGeom prst="roundRect">
            <a:avLst/>
          </a:prstGeom>
          <a:solidFill>
            <a:srgbClr val="3066BE"/>
          </a:solidFill>
          <a:ln>
            <a:solidFill>
              <a:srgbClr val="30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Reusable framework (`evoagent/`)</a:t>
            </a:r>
          </a:p>
        </p:txBody>
      </p:sp>
      <p:sp>
        <p:nvSpPr>
          <p:cNvPr id="5" name="TextBox 4"/>
          <p:cNvSpPr txBox="1"/>
          <p:nvPr/>
        </p:nvSpPr>
        <p:spPr>
          <a:xfrm>
            <a:off x="722376" y="1755648"/>
            <a:ext cx="3401568" cy="3913631"/>
          </a:xfrm>
          <a:prstGeom prst="rect">
            <a:avLst/>
          </a:prstGeom>
          <a:noFill/>
        </p:spPr>
        <p:txBody>
          <a:bodyPr wrap="square">
            <a:spAutoFit/>
          </a:bodyPr>
          <a:lstStyle/>
          <a:p>
            <a:pPr algn="l"/>
            <a:r>
              <a:rPr sz="1050">
                <a:solidFill>
                  <a:srgbClr val="1F2937"/>
                </a:solidFill>
                <a:latin typeface="Aptos"/>
              </a:rPr>
              <a:t>`evoagent/core/protocols.py`</a:t>
            </a:r>
          </a:p>
          <a:p>
            <a:pPr algn="l"/>
            <a:r>
              <a:rPr sz="1050">
                <a:solidFill>
                  <a:srgbClr val="1F2937"/>
                </a:solidFill>
                <a:latin typeface="Aptos"/>
              </a:rPr>
              <a:t>Contracts for pluggability.</a:t>
            </a:r>
          </a:p>
          <a:p>
            <a:pPr algn="l"/>
            <a:endParaRPr sz="1050">
              <a:solidFill>
                <a:srgbClr val="1F2937"/>
              </a:solidFill>
              <a:latin typeface="Aptos"/>
            </a:endParaRPr>
          </a:p>
          <a:p>
            <a:pPr algn="l"/>
            <a:r>
              <a:rPr sz="1050">
                <a:solidFill>
                  <a:srgbClr val="1F2937"/>
                </a:solidFill>
                <a:latin typeface="Aptos"/>
              </a:rPr>
              <a:t>`evoagent/harness/builder.py`</a:t>
            </a:r>
          </a:p>
          <a:p>
            <a:pPr algn="l"/>
            <a:r>
              <a:rPr sz="1050">
                <a:solidFill>
                  <a:srgbClr val="1F2937"/>
                </a:solidFill>
                <a:latin typeface="Aptos"/>
              </a:rPr>
              <a:t>Default middleware assembly.</a:t>
            </a:r>
          </a:p>
          <a:p>
            <a:pPr algn="l"/>
            <a:endParaRPr sz="1050">
              <a:solidFill>
                <a:srgbClr val="1F2937"/>
              </a:solidFill>
              <a:latin typeface="Aptos"/>
            </a:endParaRPr>
          </a:p>
          <a:p>
            <a:pPr algn="l"/>
            <a:r>
              <a:rPr sz="1050">
                <a:solidFill>
                  <a:srgbClr val="1F2937"/>
                </a:solidFill>
                <a:latin typeface="Aptos"/>
              </a:rPr>
              <a:t>`evoagent/harness/middleware.py`</a:t>
            </a:r>
          </a:p>
          <a:p>
            <a:pPr algn="l"/>
            <a:r>
              <a:rPr sz="1050">
                <a:solidFill>
                  <a:srgbClr val="1F2937"/>
                </a:solidFill>
                <a:latin typeface="Aptos"/>
              </a:rPr>
              <a:t>Actual runtime controls.</a:t>
            </a:r>
          </a:p>
          <a:p>
            <a:pPr algn="l"/>
            <a:endParaRPr sz="1050">
              <a:solidFill>
                <a:srgbClr val="1F2937"/>
              </a:solidFill>
              <a:latin typeface="Aptos"/>
            </a:endParaRPr>
          </a:p>
          <a:p>
            <a:pPr algn="l"/>
            <a:r>
              <a:rPr sz="1050">
                <a:solidFill>
                  <a:srgbClr val="1F2937"/>
                </a:solidFill>
                <a:latin typeface="Aptos"/>
              </a:rPr>
              <a:t>`evoagent/memory/store.py`</a:t>
            </a:r>
          </a:p>
          <a:p>
            <a:pPr algn="l"/>
            <a:r>
              <a:rPr sz="1050">
                <a:solidFill>
                  <a:srgbClr val="1F2937"/>
                </a:solidFill>
                <a:latin typeface="Aptos"/>
              </a:rPr>
              <a:t>Persistent episodic and semantic memory.</a:t>
            </a:r>
          </a:p>
          <a:p>
            <a:pPr algn="l"/>
            <a:endParaRPr sz="1050">
              <a:solidFill>
                <a:srgbClr val="1F2937"/>
              </a:solidFill>
              <a:latin typeface="Aptos"/>
            </a:endParaRPr>
          </a:p>
          <a:p>
            <a:pPr algn="l"/>
            <a:r>
              <a:rPr sz="1050">
                <a:solidFill>
                  <a:srgbClr val="1F2937"/>
                </a:solidFill>
                <a:latin typeface="Aptos"/>
              </a:rPr>
              <a:t>`evoagent/memory/compression.py`</a:t>
            </a:r>
          </a:p>
          <a:p>
            <a:pPr algn="l"/>
            <a:r>
              <a:rPr sz="1050">
                <a:solidFill>
                  <a:srgbClr val="1F2937"/>
                </a:solidFill>
                <a:latin typeface="Aptos"/>
              </a:rPr>
              <a:t>Context assembly and dedup.</a:t>
            </a:r>
          </a:p>
          <a:p>
            <a:pPr algn="l"/>
            <a:endParaRPr sz="1050">
              <a:solidFill>
                <a:srgbClr val="1F2937"/>
              </a:solidFill>
              <a:latin typeface="Aptos"/>
            </a:endParaRPr>
          </a:p>
          <a:p>
            <a:pPr algn="l"/>
            <a:r>
              <a:rPr sz="1050">
                <a:solidFill>
                  <a:srgbClr val="1F2937"/>
                </a:solidFill>
                <a:latin typeface="Aptos"/>
              </a:rPr>
              <a:t>`evoagent/skills/extractor.py`</a:t>
            </a:r>
          </a:p>
          <a:p>
            <a:pPr algn="l"/>
            <a:r>
              <a:rPr sz="1050">
                <a:solidFill>
                  <a:srgbClr val="1F2937"/>
                </a:solidFill>
                <a:latin typeface="Aptos"/>
              </a:rPr>
              <a:t>Success and failure skill learning.</a:t>
            </a:r>
          </a:p>
          <a:p>
            <a:pPr algn="l"/>
            <a:endParaRPr sz="1050">
              <a:solidFill>
                <a:srgbClr val="1F2937"/>
              </a:solidFill>
              <a:latin typeface="Aptos"/>
            </a:endParaRPr>
          </a:p>
          <a:p>
            <a:pPr algn="l"/>
            <a:r>
              <a:rPr sz="1050">
                <a:solidFill>
                  <a:srgbClr val="1F2937"/>
                </a:solidFill>
                <a:latin typeface="Aptos"/>
              </a:rPr>
              <a:t>`evoagent/evolution/sleep_review.py`</a:t>
            </a:r>
          </a:p>
          <a:p>
            <a:pPr algn="l"/>
            <a:r>
              <a:rPr sz="1050">
                <a:solidFill>
                  <a:srgbClr val="1F2937"/>
                </a:solidFill>
                <a:latin typeface="Aptos"/>
              </a:rPr>
              <a:t>Offline meta-instruction learning.</a:t>
            </a:r>
          </a:p>
        </p:txBody>
      </p:sp>
      <p:sp>
        <p:nvSpPr>
          <p:cNvPr id="6" name="Rounded Rectangle 5"/>
          <p:cNvSpPr/>
          <p:nvPr/>
        </p:nvSpPr>
        <p:spPr>
          <a:xfrm>
            <a:off x="4480560" y="1325880"/>
            <a:ext cx="3657600" cy="4389120"/>
          </a:xfrm>
          <a:prstGeom prst="roundRect">
            <a:avLst/>
          </a:prstGeom>
          <a:solidFill>
            <a:srgbClr val="FFFFFF"/>
          </a:solidFill>
          <a:ln w="16510">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26280" y="1371600"/>
            <a:ext cx="3566160" cy="329184"/>
          </a:xfrm>
          <a:prstGeom prst="roundRect">
            <a:avLst/>
          </a:prstGeom>
          <a:solidFill>
            <a:srgbClr val="228E93"/>
          </a:solidFill>
          <a:ln>
            <a:solidFill>
              <a:srgbClr val="228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Application wiring (`src/`)</a:t>
            </a:r>
          </a:p>
        </p:txBody>
      </p:sp>
      <p:sp>
        <p:nvSpPr>
          <p:cNvPr id="8" name="TextBox 7"/>
          <p:cNvSpPr txBox="1"/>
          <p:nvPr/>
        </p:nvSpPr>
        <p:spPr>
          <a:xfrm>
            <a:off x="4608576" y="1755648"/>
            <a:ext cx="3401568" cy="3913631"/>
          </a:xfrm>
          <a:prstGeom prst="rect">
            <a:avLst/>
          </a:prstGeom>
          <a:noFill/>
        </p:spPr>
        <p:txBody>
          <a:bodyPr wrap="square">
            <a:spAutoFit/>
          </a:bodyPr>
          <a:lstStyle/>
          <a:p>
            <a:pPr algn="l"/>
            <a:r>
              <a:rPr sz="1050">
                <a:solidFill>
                  <a:srgbClr val="1F2937"/>
                </a:solidFill>
                <a:latin typeface="Aptos"/>
              </a:rPr>
              <a:t>`src/agent/deep_agent.py`</a:t>
            </a:r>
          </a:p>
          <a:p>
            <a:pPr algn="l"/>
            <a:r>
              <a:rPr sz="1050">
                <a:solidFill>
                  <a:srgbClr val="1F2937"/>
                </a:solidFill>
                <a:latin typeface="Aptos"/>
              </a:rPr>
              <a:t>Builds the actual research agent from learned artifacts.</a:t>
            </a:r>
          </a:p>
          <a:p>
            <a:pPr algn="l"/>
            <a:endParaRPr sz="1050">
              <a:solidFill>
                <a:srgbClr val="1F2937"/>
              </a:solidFill>
              <a:latin typeface="Aptos"/>
            </a:endParaRPr>
          </a:p>
          <a:p>
            <a:pPr algn="l"/>
            <a:r>
              <a:rPr sz="1050">
                <a:solidFill>
                  <a:srgbClr val="1F2937"/>
                </a:solidFill>
                <a:latin typeface="Aptos"/>
              </a:rPr>
              <a:t>`src/cli/commands.py`</a:t>
            </a:r>
          </a:p>
          <a:p>
            <a:pPr algn="l"/>
            <a:r>
              <a:rPr sz="1050">
                <a:solidFill>
                  <a:srgbClr val="1F2937"/>
                </a:solidFill>
                <a:latin typeface="Aptos"/>
              </a:rPr>
              <a:t>Single-run execution, grading, reflection, and run logging.</a:t>
            </a:r>
          </a:p>
          <a:p>
            <a:pPr algn="l"/>
            <a:endParaRPr sz="1050">
              <a:solidFill>
                <a:srgbClr val="1F2937"/>
              </a:solidFill>
              <a:latin typeface="Aptos"/>
            </a:endParaRPr>
          </a:p>
          <a:p>
            <a:pPr algn="l"/>
            <a:r>
              <a:rPr sz="1050">
                <a:solidFill>
                  <a:srgbClr val="1F2937"/>
                </a:solidFill>
                <a:latin typeface="Aptos"/>
              </a:rPr>
              <a:t>`src/evolution/daemon.py`</a:t>
            </a:r>
          </a:p>
          <a:p>
            <a:pPr algn="l"/>
            <a:r>
              <a:rPr sz="1050">
                <a:solidFill>
                  <a:srgbClr val="1F2937"/>
                </a:solidFill>
                <a:latin typeface="Aptos"/>
              </a:rPr>
              <a:t>Continuous optimizer.</a:t>
            </a:r>
          </a:p>
          <a:p>
            <a:pPr algn="l"/>
            <a:endParaRPr sz="1050">
              <a:solidFill>
                <a:srgbClr val="1F2937"/>
              </a:solidFill>
              <a:latin typeface="Aptos"/>
            </a:endParaRPr>
          </a:p>
          <a:p>
            <a:pPr algn="l"/>
            <a:r>
              <a:rPr sz="1050">
                <a:solidFill>
                  <a:srgbClr val="1F2937"/>
                </a:solidFill>
                <a:latin typeface="Aptos"/>
              </a:rPr>
              <a:t>`src/evolution/harness_optimizer.py`</a:t>
            </a:r>
          </a:p>
          <a:p>
            <a:pPr algn="l"/>
            <a:r>
              <a:rPr sz="1050">
                <a:solidFill>
                  <a:srgbClr val="1F2937"/>
                </a:solidFill>
                <a:latin typeface="Aptos"/>
              </a:rPr>
              <a:t>Safe config proposals from traces.</a:t>
            </a:r>
          </a:p>
          <a:p>
            <a:pPr algn="l"/>
            <a:endParaRPr sz="1050">
              <a:solidFill>
                <a:srgbClr val="1F2937"/>
              </a:solidFill>
              <a:latin typeface="Aptos"/>
            </a:endParaRPr>
          </a:p>
          <a:p>
            <a:pPr algn="l"/>
            <a:r>
              <a:rPr sz="1050">
                <a:solidFill>
                  <a:srgbClr val="1F2937"/>
                </a:solidFill>
                <a:latin typeface="Aptos"/>
              </a:rPr>
              <a:t>`src/evolution/prompt_optimizer.py`</a:t>
            </a:r>
          </a:p>
          <a:p>
            <a:pPr algn="l"/>
            <a:r>
              <a:rPr sz="1050">
                <a:solidFill>
                  <a:srgbClr val="1F2937"/>
                </a:solidFill>
                <a:latin typeface="Aptos"/>
              </a:rPr>
              <a:t>Prompt revision from failure analysis.</a:t>
            </a:r>
          </a:p>
          <a:p>
            <a:pPr algn="l"/>
            <a:endParaRPr sz="1050">
              <a:solidFill>
                <a:srgbClr val="1F2937"/>
              </a:solidFill>
              <a:latin typeface="Aptos"/>
            </a:endParaRPr>
          </a:p>
          <a:p>
            <a:pPr algn="l"/>
            <a:r>
              <a:rPr sz="1050">
                <a:solidFill>
                  <a:srgbClr val="1F2937"/>
                </a:solidFill>
                <a:latin typeface="Aptos"/>
              </a:rPr>
              <a:t>`src/tracing/fetcher.py`</a:t>
            </a:r>
          </a:p>
          <a:p>
            <a:pPr algn="l"/>
            <a:r>
              <a:rPr sz="1050">
                <a:solidFill>
                  <a:srgbClr val="1F2937"/>
                </a:solidFill>
                <a:latin typeface="Aptos"/>
              </a:rPr>
              <a:t>LangSmith integration.</a:t>
            </a:r>
          </a:p>
        </p:txBody>
      </p:sp>
      <p:sp>
        <p:nvSpPr>
          <p:cNvPr id="9" name="Rounded Rectangle 8"/>
          <p:cNvSpPr/>
          <p:nvPr/>
        </p:nvSpPr>
        <p:spPr>
          <a:xfrm>
            <a:off x="8366760" y="1325880"/>
            <a:ext cx="3154680" cy="4389120"/>
          </a:xfrm>
          <a:prstGeom prst="roundRect">
            <a:avLst/>
          </a:prstGeom>
          <a:solidFill>
            <a:srgbClr val="FFFFFF"/>
          </a:solidFill>
          <a:ln w="16510">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412480" y="1371600"/>
            <a:ext cx="3063240" cy="329184"/>
          </a:xfrm>
          <a:prstGeom prst="roundRect">
            <a:avLst/>
          </a:prstGeom>
          <a:solidFill>
            <a:srgbClr val="D79A35"/>
          </a:solidFill>
          <a:ln>
            <a:solidFill>
              <a:srgbClr val="D79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State directories</a:t>
            </a:r>
          </a:p>
        </p:txBody>
      </p:sp>
      <p:sp>
        <p:nvSpPr>
          <p:cNvPr id="11" name="TextBox 10"/>
          <p:cNvSpPr txBox="1"/>
          <p:nvPr/>
        </p:nvSpPr>
        <p:spPr>
          <a:xfrm>
            <a:off x="8494776" y="1755648"/>
            <a:ext cx="2898648" cy="3913631"/>
          </a:xfrm>
          <a:prstGeom prst="rect">
            <a:avLst/>
          </a:prstGeom>
          <a:noFill/>
        </p:spPr>
        <p:txBody>
          <a:bodyPr wrap="square">
            <a:spAutoFit/>
          </a:bodyPr>
          <a:lstStyle/>
          <a:p>
            <a:pPr algn="l"/>
            <a:r>
              <a:rPr sz="1050">
                <a:solidFill>
                  <a:srgbClr val="1F2937"/>
                </a:solidFill>
                <a:latin typeface="Aptos"/>
              </a:rPr>
              <a:t>`prompts/`</a:t>
            </a:r>
          </a:p>
          <a:p>
            <a:pPr algn="l"/>
            <a:r>
              <a:rPr sz="1050">
                <a:solidFill>
                  <a:srgbClr val="1F2937"/>
                </a:solidFill>
                <a:latin typeface="Aptos"/>
              </a:rPr>
              <a:t>Versioned prompt JSON.</a:t>
            </a:r>
          </a:p>
          <a:p>
            <a:pPr algn="l"/>
            <a:endParaRPr sz="1050">
              <a:solidFill>
                <a:srgbClr val="1F2937"/>
              </a:solidFill>
              <a:latin typeface="Aptos"/>
            </a:endParaRPr>
          </a:p>
          <a:p>
            <a:pPr algn="l"/>
            <a:r>
              <a:rPr sz="1050">
                <a:solidFill>
                  <a:srgbClr val="1F2937"/>
                </a:solidFill>
                <a:latin typeface="Aptos"/>
              </a:rPr>
              <a:t>`harness_config/`</a:t>
            </a:r>
          </a:p>
          <a:p>
            <a:pPr algn="l"/>
            <a:r>
              <a:rPr sz="1050">
                <a:solidFill>
                  <a:srgbClr val="1F2937"/>
                </a:solidFill>
                <a:latin typeface="Aptos"/>
              </a:rPr>
              <a:t>Versioned harness JSON.</a:t>
            </a:r>
          </a:p>
          <a:p>
            <a:pPr algn="l"/>
            <a:endParaRPr sz="1050">
              <a:solidFill>
                <a:srgbClr val="1F2937"/>
              </a:solidFill>
              <a:latin typeface="Aptos"/>
            </a:endParaRPr>
          </a:p>
          <a:p>
            <a:pPr algn="l"/>
            <a:r>
              <a:rPr sz="1050">
                <a:solidFill>
                  <a:srgbClr val="1F2937"/>
                </a:solidFill>
                <a:latin typeface="Aptos"/>
              </a:rPr>
              <a:t>`memory/episodic` and `memory/semantic`</a:t>
            </a:r>
          </a:p>
          <a:p>
            <a:pPr algn="l"/>
            <a:r>
              <a:rPr sz="1050">
                <a:solidFill>
                  <a:srgbClr val="1F2937"/>
                </a:solidFill>
                <a:latin typeface="Aptos"/>
              </a:rPr>
              <a:t>Learned context.</a:t>
            </a:r>
          </a:p>
          <a:p>
            <a:pPr algn="l"/>
            <a:endParaRPr sz="1050">
              <a:solidFill>
                <a:srgbClr val="1F2937"/>
              </a:solidFill>
              <a:latin typeface="Aptos"/>
            </a:endParaRPr>
          </a:p>
          <a:p>
            <a:pPr algn="l"/>
            <a:r>
              <a:rPr sz="1050">
                <a:solidFill>
                  <a:srgbClr val="1F2937"/>
                </a:solidFill>
                <a:latin typeface="Aptos"/>
              </a:rPr>
              <a:t>`skills/`</a:t>
            </a:r>
          </a:p>
          <a:p>
            <a:pPr algn="l"/>
            <a:r>
              <a:rPr sz="1050">
                <a:solidFill>
                  <a:srgbClr val="1F2937"/>
                </a:solidFill>
                <a:latin typeface="Aptos"/>
              </a:rPr>
              <a:t>Generated SKILL.md patterns.</a:t>
            </a:r>
          </a:p>
          <a:p>
            <a:pPr algn="l"/>
            <a:endParaRPr sz="1050">
              <a:solidFill>
                <a:srgbClr val="1F2937"/>
              </a:solidFill>
              <a:latin typeface="Aptos"/>
            </a:endParaRPr>
          </a:p>
          <a:p>
            <a:pPr algn="l"/>
            <a:r>
              <a:rPr sz="1050">
                <a:solidFill>
                  <a:srgbClr val="1F2937"/>
                </a:solidFill>
                <a:latin typeface="Aptos"/>
              </a:rPr>
              <a:t>`evolution_state/run_log.jsonl`</a:t>
            </a:r>
          </a:p>
          <a:p>
            <a:pPr algn="l"/>
            <a:r>
              <a:rPr sz="1050">
                <a:solidFill>
                  <a:srgbClr val="1F2937"/>
                </a:solidFill>
                <a:latin typeface="Aptos"/>
              </a:rPr>
              <a:t>Queue of evidence for the daemon.</a:t>
            </a:r>
          </a:p>
          <a:p>
            <a:pPr algn="l"/>
            <a:endParaRPr sz="1050">
              <a:solidFill>
                <a:srgbClr val="1F2937"/>
              </a:solidFill>
              <a:latin typeface="Aptos"/>
            </a:endParaRPr>
          </a:p>
          <a:p>
            <a:pPr algn="l"/>
            <a:r>
              <a:rPr sz="1050">
                <a:solidFill>
                  <a:srgbClr val="1F2937"/>
                </a:solidFill>
                <a:latin typeface="Aptos"/>
              </a:rPr>
              <a:t>`traces/`</a:t>
            </a:r>
          </a:p>
          <a:p>
            <a:pPr algn="l"/>
            <a:r>
              <a:rPr sz="1050">
                <a:solidFill>
                  <a:srgbClr val="1F2937"/>
                </a:solidFill>
                <a:latin typeface="Aptos"/>
              </a:rPr>
              <a:t>Local fallback trace store.</a:t>
            </a:r>
          </a:p>
        </p:txBody>
      </p:sp>
      <p:sp>
        <p:nvSpPr>
          <p:cNvPr id="12" name="TextBox 11"/>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These directories are the durable memory of the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064240" cy="822960"/>
          </a:xfrm>
          <a:prstGeom prst="rect">
            <a:avLst/>
          </a:prstGeom>
          <a:noFill/>
        </p:spPr>
        <p:txBody>
          <a:bodyPr wrap="none">
            <a:spAutoFit/>
          </a:bodyPr>
          <a:lstStyle/>
          <a:p>
            <a:r>
              <a:rPr sz="2800" b="1">
                <a:solidFill>
                  <a:srgbClr val="0E2240"/>
                </a:solidFill>
                <a:latin typeface="Aptos Display"/>
              </a:rPr>
              <a:t>References</a:t>
            </a:r>
          </a:p>
          <a:p>
            <a:r>
              <a:rPr sz="1200">
                <a:solidFill>
                  <a:srgbClr val="4C5B6A"/>
                </a:solidFill>
                <a:latin typeface="Aptos"/>
              </a:rPr>
              <a:t>Primary design influences and repository documentation used for this deck.</a:t>
            </a:r>
          </a:p>
        </p:txBody>
      </p:sp>
      <p:sp>
        <p:nvSpPr>
          <p:cNvPr id="3" name="Rounded Rectangle 2"/>
          <p:cNvSpPr/>
          <p:nvPr/>
        </p:nvSpPr>
        <p:spPr>
          <a:xfrm>
            <a:off x="731520" y="1463040"/>
            <a:ext cx="10789920" cy="4206240"/>
          </a:xfrm>
          <a:prstGeom prst="roundRect">
            <a:avLst/>
          </a:prstGeom>
          <a:solidFill>
            <a:srgbClr val="FFFFFF"/>
          </a:solidFill>
          <a:ln w="16510">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508760"/>
            <a:ext cx="10698480" cy="329184"/>
          </a:xfrm>
          <a:prstGeom prst="roundRect">
            <a:avLst/>
          </a:prstGeom>
          <a:solidFill>
            <a:srgbClr val="0E2240"/>
          </a:solidFill>
          <a:ln>
            <a:solidFill>
              <a:srgbClr val="0E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a:rPr>
              <a:t>Reference list</a:t>
            </a:r>
          </a:p>
        </p:txBody>
      </p:sp>
      <p:sp>
        <p:nvSpPr>
          <p:cNvPr id="5" name="TextBox 4"/>
          <p:cNvSpPr txBox="1"/>
          <p:nvPr/>
        </p:nvSpPr>
        <p:spPr>
          <a:xfrm>
            <a:off x="859536" y="1892808"/>
            <a:ext cx="10533888" cy="3730752"/>
          </a:xfrm>
          <a:prstGeom prst="rect">
            <a:avLst/>
          </a:prstGeom>
          <a:noFill/>
        </p:spPr>
        <p:txBody>
          <a:bodyPr wrap="square">
            <a:spAutoFit/>
          </a:bodyPr>
          <a:lstStyle/>
          <a:p>
            <a:pPr algn="l"/>
            <a:r>
              <a:rPr sz="1050">
                <a:solidFill>
                  <a:srgbClr val="1F2937"/>
                </a:solidFill>
                <a:latin typeface="Aptos"/>
              </a:rPr>
              <a:t>Repository docs: `architecture.md`, `README.md`, `docs/superpowers/specs/2026-04-05-evoagent-library-design.md`, `docs/superpowers/specs/2026-04-05-harness-improvements-design.md`</a:t>
            </a:r>
          </a:p>
          <a:p>
            <a:pPr algn="l"/>
            <a:r>
              <a:rPr sz="1050">
                <a:solidFill>
                  <a:srgbClr val="1F2937"/>
                </a:solidFill>
                <a:latin typeface="Aptos"/>
              </a:rPr>
              <a:t>Meta-Harness project page: https://yoonholee.com/meta-harness/</a:t>
            </a:r>
          </a:p>
          <a:p>
            <a:pPr algn="l"/>
            <a:r>
              <a:rPr sz="1050">
                <a:solidFill>
                  <a:srgbClr val="1F2937"/>
                </a:solidFill>
                <a:latin typeface="Aptos"/>
              </a:rPr>
              <a:t>LangChain blog, 'Continual learning for AI agents' (Apr 5, 2026): https://blog.langchain.com/continual-learning-for-ai-agents/</a:t>
            </a:r>
          </a:p>
          <a:p>
            <a:pPr algn="l"/>
            <a:r>
              <a:rPr sz="1050">
                <a:solidFill>
                  <a:srgbClr val="1F2937"/>
                </a:solidFill>
                <a:latin typeface="Aptos"/>
              </a:rPr>
              <a:t>karpathy/autoresearch repository: https://github.com/karpathy/autoresearch</a:t>
            </a:r>
          </a:p>
          <a:p>
            <a:pPr algn="l"/>
            <a:r>
              <a:rPr sz="1050">
                <a:solidFill>
                  <a:srgbClr val="1F2937"/>
                </a:solidFill>
                <a:latin typeface="Aptos"/>
              </a:rPr>
              <a:t>LangSmith traces are integrated via `src/tracing/fetcher.py` and are referenced throughout the optimization loop.</a:t>
            </a:r>
          </a:p>
        </p:txBody>
      </p:sp>
      <p:sp>
        <p:nvSpPr>
          <p:cNvPr id="6" name="Rounded Rectangle 5"/>
          <p:cNvSpPr/>
          <p:nvPr/>
        </p:nvSpPr>
        <p:spPr>
          <a:xfrm>
            <a:off x="2971800" y="5897880"/>
            <a:ext cx="6172200" cy="411480"/>
          </a:xfrm>
          <a:prstGeom prst="roundRect">
            <a:avLst/>
          </a:prstGeom>
          <a:solidFill>
            <a:srgbClr val="4C5B6A"/>
          </a:solidFill>
          <a:ln>
            <a:solidFill>
              <a:srgbClr val="4C5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ptos"/>
              </a:rPr>
              <a:t>Deck generator: `scripts/generate_architecture_pptx.py`</a:t>
            </a:r>
          </a:p>
        </p:txBody>
      </p:sp>
      <p:sp>
        <p:nvSpPr>
          <p:cNvPr id="7" name="TextBox 6"/>
          <p:cNvSpPr txBox="1"/>
          <p:nvPr/>
        </p:nvSpPr>
        <p:spPr>
          <a:xfrm>
            <a:off x="502920" y="6400800"/>
            <a:ext cx="10972800" cy="274320"/>
          </a:xfrm>
          <a:prstGeom prst="rect">
            <a:avLst/>
          </a:prstGeom>
          <a:noFill/>
        </p:spPr>
        <p:txBody>
          <a:bodyPr wrap="none">
            <a:spAutoFit/>
          </a:bodyPr>
          <a:lstStyle/>
          <a:p>
            <a:pPr algn="r"/>
            <a:r>
              <a:rPr sz="900">
                <a:solidFill>
                  <a:srgbClr val="4C5B6A"/>
                </a:solidFill>
                <a:latin typeface="Aptos"/>
              </a:rPr>
              <a:t>Generated PowerPoint output: docs/self_improving_agent_architecture.pptx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2833</Words>
  <Application>Microsoft Macintosh PowerPoint</Application>
  <PresentationFormat>Widescreen</PresentationFormat>
  <Paragraphs>305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Chaminda Wijayasundara</cp:lastModifiedBy>
  <cp:revision>2</cp:revision>
  <dcterms:created xsi:type="dcterms:W3CDTF">2013-01-27T09:14:16Z</dcterms:created>
  <dcterms:modified xsi:type="dcterms:W3CDTF">2026-04-06T16:28:21Z</dcterms:modified>
  <cp:category/>
</cp:coreProperties>
</file>