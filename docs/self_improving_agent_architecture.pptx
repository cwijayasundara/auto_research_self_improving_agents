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1325880"/>
            <a:ext cx="10972800" cy="1280160"/>
          </a:xfrm>
          <a:prstGeom prst="rect">
            <a:avLst/>
          </a:prstGeom>
          <a:noFill/>
        </p:spPr>
        <p:txBody>
          <a:bodyPr wrap="none">
            <a:spAutoFit/>
          </a:bodyPr>
          <a:lstStyle/>
          <a:p>
            <a:r>
              <a:rPr sz="2800" b="1">
                <a:solidFill>
                  <a:srgbClr val="0E2240"/>
                </a:solidFill>
                <a:latin typeface="Aptos Display"/>
              </a:rPr>
              <a:t>Architecture of the Self-Improving Agent</a:t>
            </a:r>
          </a:p>
          <a:p>
            <a:r>
              <a:rPr sz="1500">
                <a:solidFill>
                  <a:srgbClr val="4C5B6A"/>
                </a:solidFill>
                <a:latin typeface="Aptos"/>
              </a:rPr>
              <a:t>How the reusable evoagent framework, the harness layer, and the evolving context work together</a:t>
            </a:r>
          </a:p>
        </p:txBody>
      </p:sp>
      <p:sp>
        <p:nvSpPr>
          <p:cNvPr id="4" name="Rounded Rectangle 3"/>
          <p:cNvSpPr/>
          <p:nvPr/>
        </p:nvSpPr>
        <p:spPr>
          <a:xfrm>
            <a:off x="640080" y="2743200"/>
            <a:ext cx="3520440" cy="2240280"/>
          </a:xfrm>
          <a:prstGeom prst="roundRect">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E2240"/>
                </a:solidFill>
                <a:latin typeface="Aptos"/>
              </a:rPr>
              <a:t>Design Objective</a:t>
            </a:r>
          </a:p>
          <a:p>
            <a:pPr/>
            <a:r>
              <a:rPr sz="1100">
                <a:solidFill>
                  <a:srgbClr val="1F2937"/>
                </a:solidFill>
                <a:latin typeface="Aptos"/>
              </a:rPr>
              <a:t>Keep the model fixed; evolve the system around it.</a:t>
            </a:r>
          </a:p>
          <a:p>
            <a:pPr/>
            <a:r>
              <a:rPr sz="1100">
                <a:solidFill>
                  <a:srgbClr val="1F2937"/>
                </a:solidFill>
                <a:latin typeface="Aptos"/>
              </a:rPr>
              <a:t>Reuse generic agent-improvement patterns via evoagent.</a:t>
            </a:r>
          </a:p>
          <a:p>
            <a:pPr/>
            <a:r>
              <a:rPr sz="1100">
                <a:solidFill>
                  <a:srgbClr val="1F2937"/>
                </a:solidFill>
                <a:latin typeface="Aptos"/>
              </a:rPr>
              <a:t>Continuously learn from real user runs instead of one-off eval sweeps.</a:t>
            </a:r>
          </a:p>
        </p:txBody>
      </p:sp>
      <p:sp>
        <p:nvSpPr>
          <p:cNvPr id="5" name="Rounded Rectangle 4"/>
          <p:cNvSpPr/>
          <p:nvPr/>
        </p:nvSpPr>
        <p:spPr>
          <a:xfrm>
            <a:off x="4343400" y="2743200"/>
            <a:ext cx="3520440" cy="2240280"/>
          </a:xfrm>
          <a:prstGeom prst="roundRect">
            <a:avLst/>
          </a:prstGeom>
          <a:solidFill>
            <a:srgbClr val="E1EFFF"/>
          </a:solidFill>
          <a:ln>
            <a:solidFill>
              <a:srgbClr val="E1E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E2240"/>
                </a:solidFill>
                <a:latin typeface="Aptos"/>
              </a:rPr>
              <a:t>Three Learning Surfaces</a:t>
            </a:r>
          </a:p>
          <a:p>
            <a:pPr/>
            <a:r>
              <a:rPr sz="1100">
                <a:solidFill>
                  <a:srgbClr val="1F2937"/>
                </a:solidFill>
                <a:latin typeface="Aptos"/>
              </a:rPr>
              <a:t>Harness: middleware, tool parameters, completion checks.</a:t>
            </a:r>
          </a:p>
          <a:p>
            <a:pPr/>
            <a:r>
              <a:rPr sz="1100">
                <a:solidFill>
                  <a:srgbClr val="1F2937"/>
                </a:solidFill>
                <a:latin typeface="Aptos"/>
              </a:rPr>
              <a:t>Context: prompts, skills, episodic memory, semantic memory.</a:t>
            </a:r>
          </a:p>
          <a:p>
            <a:pPr/>
            <a:r>
              <a:rPr sz="1100">
                <a:solidFill>
                  <a:srgbClr val="1F2937"/>
                </a:solidFill>
                <a:latin typeface="Aptos"/>
              </a:rPr>
              <a:t>Outer loop: structural code changes when the inner loop plateaus.</a:t>
            </a:r>
          </a:p>
        </p:txBody>
      </p:sp>
      <p:sp>
        <p:nvSpPr>
          <p:cNvPr id="6" name="Rounded Rectangle 5"/>
          <p:cNvSpPr/>
          <p:nvPr/>
        </p:nvSpPr>
        <p:spPr>
          <a:xfrm>
            <a:off x="8046720" y="2743200"/>
            <a:ext cx="3520440" cy="2240280"/>
          </a:xfrm>
          <a:prstGeom prst="roundRect">
            <a:avLst/>
          </a:prstGeom>
          <a:solidFill>
            <a:srgbClr val="E3F3EE"/>
          </a:solidFill>
          <a:ln>
            <a:solidFill>
              <a:srgbClr val="E3F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E2240"/>
                </a:solidFill>
                <a:latin typeface="Aptos"/>
              </a:rPr>
              <a:t>Core Data Plane</a:t>
            </a:r>
          </a:p>
          <a:p>
            <a:pPr/>
            <a:r>
              <a:rPr sz="1100">
                <a:solidFill>
                  <a:srgbClr val="1F2937"/>
                </a:solidFill>
                <a:latin typeface="Aptos"/>
              </a:rPr>
              <a:t>LangSmith traces + local traces capture what happened.</a:t>
            </a:r>
          </a:p>
          <a:p>
            <a:pPr/>
            <a:r>
              <a:rPr sz="1100">
                <a:solidFill>
                  <a:srgbClr val="1F2937"/>
                </a:solidFill>
                <a:latin typeface="Aptos"/>
              </a:rPr>
              <a:t>Graders produce numerical and textual feedback.</a:t>
            </a:r>
          </a:p>
          <a:p>
            <a:pPr/>
            <a:r>
              <a:rPr sz="1100">
                <a:solidFill>
                  <a:srgbClr val="1F2937"/>
                </a:solidFill>
                <a:latin typeface="Aptos"/>
              </a:rPr>
              <a:t>Run log and version stores turn traces into durable learning signal.</a:t>
            </a:r>
          </a:p>
        </p:txBody>
      </p:sp>
      <p:sp>
        <p:nvSpPr>
          <p:cNvPr id="7" name="TextBox 6"/>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Generated from current repository architecture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Research Lineage</a:t>
            </a:r>
          </a:p>
          <a:p>
            <a:r>
              <a:rPr sz="1200">
                <a:solidFill>
                  <a:srgbClr val="4C5B6A"/>
                </a:solidFill>
                <a:latin typeface="Aptos"/>
              </a:rPr>
              <a:t>The implementation combines ideas from three reference directions plus LangSmith trace instrumentation.</a:t>
            </a:r>
          </a:p>
        </p:txBody>
      </p:sp>
      <p:sp>
        <p:nvSpPr>
          <p:cNvPr id="3" name="Rounded Rectangle 2"/>
          <p:cNvSpPr/>
          <p:nvPr/>
        </p:nvSpPr>
        <p:spPr>
          <a:xfrm>
            <a:off x="502920" y="1234440"/>
            <a:ext cx="3657600" cy="150876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280160"/>
            <a:ext cx="35661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Karpathy autoresearch</a:t>
            </a:r>
          </a:p>
        </p:txBody>
      </p:sp>
      <p:sp>
        <p:nvSpPr>
          <p:cNvPr id="5" name="TextBox 4"/>
          <p:cNvSpPr txBox="1"/>
          <p:nvPr/>
        </p:nvSpPr>
        <p:spPr>
          <a:xfrm>
            <a:off x="630936" y="1664208"/>
            <a:ext cx="3401568" cy="1033271"/>
          </a:xfrm>
          <a:prstGeom prst="rect">
            <a:avLst/>
          </a:prstGeom>
          <a:noFill/>
        </p:spPr>
        <p:txBody>
          <a:bodyPr wrap="square">
            <a:spAutoFit/>
          </a:bodyPr>
          <a:lstStyle/>
          <a:p>
            <a:pPr algn="l"/>
            <a:r>
              <a:rPr sz="1050">
                <a:solidFill>
                  <a:srgbClr val="1F2937"/>
                </a:solidFill>
                <a:latin typeface="Aptos"/>
              </a:rPr>
              <a:t>Outer loop around a real task.</a:t>
            </a:r>
          </a:p>
          <a:p>
            <a:pPr algn="l"/>
            <a:r>
              <a:rPr sz="1050">
                <a:solidFill>
                  <a:srgbClr val="1F2937"/>
                </a:solidFill>
                <a:latin typeface="Aptos"/>
              </a:rPr>
              <a:t>Agent proposes improvements, evaluates them, keeps what works.</a:t>
            </a:r>
          </a:p>
          <a:p>
            <a:pPr algn="l"/>
            <a:r>
              <a:rPr sz="1050">
                <a:solidFill>
                  <a:srgbClr val="1F2937"/>
                </a:solidFill>
                <a:latin typeface="Aptos"/>
              </a:rPr>
              <a:t>This project adapts that pattern into continuous agent improvement rather than GPU training.</a:t>
            </a:r>
          </a:p>
        </p:txBody>
      </p:sp>
      <p:sp>
        <p:nvSpPr>
          <p:cNvPr id="6" name="Rounded Rectangle 5"/>
          <p:cNvSpPr/>
          <p:nvPr/>
        </p:nvSpPr>
        <p:spPr>
          <a:xfrm>
            <a:off x="4270248" y="1234440"/>
            <a:ext cx="3657600" cy="150876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15968" y="1280160"/>
            <a:ext cx="35661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Meta-Harness</a:t>
            </a:r>
          </a:p>
        </p:txBody>
      </p:sp>
      <p:sp>
        <p:nvSpPr>
          <p:cNvPr id="8" name="TextBox 7"/>
          <p:cNvSpPr txBox="1"/>
          <p:nvPr/>
        </p:nvSpPr>
        <p:spPr>
          <a:xfrm>
            <a:off x="4398264" y="1664208"/>
            <a:ext cx="3401568" cy="1033271"/>
          </a:xfrm>
          <a:prstGeom prst="rect">
            <a:avLst/>
          </a:prstGeom>
          <a:noFill/>
        </p:spPr>
        <p:txBody>
          <a:bodyPr wrap="square">
            <a:spAutoFit/>
          </a:bodyPr>
          <a:lstStyle/>
          <a:p>
            <a:pPr algn="l"/>
            <a:r>
              <a:rPr sz="1050">
                <a:solidFill>
                  <a:srgbClr val="1F2937"/>
                </a:solidFill>
                <a:latin typeface="Aptos"/>
              </a:rPr>
              <a:t>Optimize the harness using execution traces, scores, and prior versions.</a:t>
            </a:r>
          </a:p>
          <a:p>
            <a:pPr algn="l"/>
            <a:r>
              <a:rPr sz="1050">
                <a:solidFill>
                  <a:srgbClr val="1F2937"/>
                </a:solidFill>
                <a:latin typeface="Aptos"/>
              </a:rPr>
              <a:t>This project adopts trace-driven diagnosis and safe proposal selection, but does it continuously from live runs.</a:t>
            </a:r>
          </a:p>
        </p:txBody>
      </p:sp>
      <p:sp>
        <p:nvSpPr>
          <p:cNvPr id="9" name="Rounded Rectangle 8"/>
          <p:cNvSpPr/>
          <p:nvPr/>
        </p:nvSpPr>
        <p:spPr>
          <a:xfrm>
            <a:off x="8037575" y="1234440"/>
            <a:ext cx="3657600" cy="150876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83296" y="1280160"/>
            <a:ext cx="35661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Continual learning for agents</a:t>
            </a:r>
          </a:p>
        </p:txBody>
      </p:sp>
      <p:sp>
        <p:nvSpPr>
          <p:cNvPr id="11" name="TextBox 10"/>
          <p:cNvSpPr txBox="1"/>
          <p:nvPr/>
        </p:nvSpPr>
        <p:spPr>
          <a:xfrm>
            <a:off x="8165592" y="1664208"/>
            <a:ext cx="3401568" cy="1033271"/>
          </a:xfrm>
          <a:prstGeom prst="rect">
            <a:avLst/>
          </a:prstGeom>
          <a:noFill/>
        </p:spPr>
        <p:txBody>
          <a:bodyPr wrap="square">
            <a:spAutoFit/>
          </a:bodyPr>
          <a:lstStyle/>
          <a:p>
            <a:pPr algn="l"/>
            <a:r>
              <a:rPr sz="1050">
                <a:solidFill>
                  <a:srgbClr val="1F2937"/>
                </a:solidFill>
                <a:latin typeface="Aptos"/>
              </a:rPr>
              <a:t>Separate model, harness, and context as distinct learning surfaces.</a:t>
            </a:r>
          </a:p>
          <a:p>
            <a:pPr algn="l"/>
            <a:r>
              <a:rPr sz="1050">
                <a:solidFill>
                  <a:srgbClr val="1F2937"/>
                </a:solidFill>
                <a:latin typeface="Aptos"/>
              </a:rPr>
              <a:t>This project mainly learns in token space: prompts, skills, and memory.</a:t>
            </a:r>
          </a:p>
        </p:txBody>
      </p:sp>
      <p:sp>
        <p:nvSpPr>
          <p:cNvPr id="12" name="Rounded Rectangle 11"/>
          <p:cNvSpPr/>
          <p:nvPr/>
        </p:nvSpPr>
        <p:spPr>
          <a:xfrm>
            <a:off x="777240" y="3154680"/>
            <a:ext cx="10972800" cy="224028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200400"/>
            <a:ext cx="108813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Project-specific synthesis</a:t>
            </a:r>
          </a:p>
        </p:txBody>
      </p:sp>
      <p:sp>
        <p:nvSpPr>
          <p:cNvPr id="14" name="TextBox 13"/>
          <p:cNvSpPr txBox="1"/>
          <p:nvPr/>
        </p:nvSpPr>
        <p:spPr>
          <a:xfrm>
            <a:off x="905256" y="3584448"/>
            <a:ext cx="10716768" cy="1764792"/>
          </a:xfrm>
          <a:prstGeom prst="rect">
            <a:avLst/>
          </a:prstGeom>
          <a:noFill/>
        </p:spPr>
        <p:txBody>
          <a:bodyPr wrap="square">
            <a:spAutoFit/>
          </a:bodyPr>
          <a:lstStyle/>
          <a:p>
            <a:pPr algn="l"/>
            <a:r>
              <a:rPr sz="1050">
                <a:solidFill>
                  <a:srgbClr val="1F2937"/>
                </a:solidFill>
                <a:latin typeface="Aptos"/>
              </a:rPr>
              <a:t>1. `evoagent/` packages the reusable framework: protocols, memory, skills, middleware, grading, tracing, and offline evolution helpers.</a:t>
            </a:r>
          </a:p>
          <a:p>
            <a:pPr algn="l"/>
            <a:r>
              <a:rPr sz="1050">
                <a:solidFill>
                  <a:srgbClr val="1F2937"/>
                </a:solidFill>
                <a:latin typeface="Aptos"/>
              </a:rPr>
              <a:t>2. `src/` wires that framework into a research agent built on `deepagents`.</a:t>
            </a:r>
          </a:p>
          <a:p>
            <a:pPr algn="l"/>
            <a:r>
              <a:rPr sz="1050">
                <a:solidFill>
                  <a:srgbClr val="1F2937"/>
                </a:solidFill>
                <a:latin typeface="Aptos"/>
              </a:rPr>
              <a:t>3. `src/evolution/daemon.py` is the always-on optimizer that consumes real run results.</a:t>
            </a:r>
          </a:p>
          <a:p>
            <a:pPr algn="l"/>
            <a:r>
              <a:rPr sz="1050">
                <a:solidFill>
                  <a:srgbClr val="1F2937"/>
                </a:solidFill>
                <a:latin typeface="Aptos"/>
              </a:rPr>
              <a:t>4. LangSmith traces enrich both prompt optimization and harness optimization with higher-fidelity execution evidence.</a:t>
            </a:r>
          </a:p>
        </p:txBody>
      </p:sp>
      <p:sp>
        <p:nvSpPr>
          <p:cNvPr id="15" name="Rounded Rectangle 14"/>
          <p:cNvSpPr/>
          <p:nvPr/>
        </p:nvSpPr>
        <p:spPr>
          <a:xfrm>
            <a:off x="4160520" y="5623560"/>
            <a:ext cx="3840480" cy="411480"/>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Key idea: traces are the common currency</a:t>
            </a:r>
          </a:p>
        </p:txBody>
      </p:sp>
      <p:sp>
        <p:nvSpPr>
          <p:cNvPr id="16" name="TextBox 15"/>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Refs: Meta-Harness, LangChain continual learning, karpathy/autoresearch, LangSmith traces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Reusable evoagent Design</a:t>
            </a:r>
          </a:p>
          <a:p>
            <a:r>
              <a:rPr sz="1200">
                <a:solidFill>
                  <a:srgbClr val="4C5B6A"/>
                </a:solidFill>
                <a:latin typeface="Aptos"/>
              </a:rPr>
              <a:t>The framework is intentionally layered so other agent types can reuse only the pieces they need.</a:t>
            </a:r>
          </a:p>
        </p:txBody>
      </p:sp>
      <p:sp>
        <p:nvSpPr>
          <p:cNvPr id="3" name="Rounded Rectangle 2"/>
          <p:cNvSpPr/>
          <p:nvPr/>
        </p:nvSpPr>
        <p:spPr>
          <a:xfrm>
            <a:off x="594360" y="1325880"/>
            <a:ext cx="10972800" cy="685800"/>
          </a:xfrm>
          <a:prstGeom prst="roundRect">
            <a:avLst/>
          </a:prstGeom>
          <a:solidFill>
            <a:srgbClr val="FFFF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371600"/>
            <a:ext cx="10881360" cy="329184"/>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Layering principle</a:t>
            </a:r>
          </a:p>
        </p:txBody>
      </p:sp>
      <p:sp>
        <p:nvSpPr>
          <p:cNvPr id="5" name="TextBox 4"/>
          <p:cNvSpPr txBox="1"/>
          <p:nvPr/>
        </p:nvSpPr>
        <p:spPr>
          <a:xfrm>
            <a:off x="722376" y="1755648"/>
            <a:ext cx="10716768" cy="210311"/>
          </a:xfrm>
          <a:prstGeom prst="rect">
            <a:avLst/>
          </a:prstGeom>
          <a:noFill/>
        </p:spPr>
        <p:txBody>
          <a:bodyPr wrap="square">
            <a:spAutoFit/>
          </a:bodyPr>
          <a:lstStyle/>
          <a:p>
            <a:pPr algn="l"/>
            <a:r>
              <a:rPr sz="1050">
                <a:solidFill>
                  <a:srgbClr val="1F2937"/>
                </a:solidFill>
                <a:latin typeface="Aptos"/>
              </a:rPr>
              <a:t>Layer 0: protocols and types. Layer 1: memory and skills. Layer 2: harness, graders, tracing. Layer 3: evolution utilities. The application code in `src/` sits above this and supplies the domain-specific agent factory, prompts, tools, and CLI.</a:t>
            </a:r>
          </a:p>
        </p:txBody>
      </p:sp>
      <p:sp>
        <p:nvSpPr>
          <p:cNvPr id="6" name="Rounded Rectangle 5"/>
          <p:cNvSpPr/>
          <p:nvPr/>
        </p:nvSpPr>
        <p:spPr>
          <a:xfrm>
            <a:off x="594360" y="2240280"/>
            <a:ext cx="2651760" cy="2971800"/>
          </a:xfrm>
          <a:prstGeom prst="roundRect">
            <a:avLst/>
          </a:prstGeom>
          <a:solidFill>
            <a:srgbClr val="E9F2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0
`evoagent/core/`</a:t>
            </a:r>
          </a:p>
          <a:p>
            <a:r>
              <a:rPr sz="1050">
                <a:solidFill>
                  <a:srgbClr val="1F2937"/>
                </a:solidFill>
                <a:latin typeface="Aptos"/>
              </a:rPr>
              <a:t>Shared types such as `GraderResult`, `TaskResult`, `TrajectoryMetrics`.</a:t>
            </a:r>
          </a:p>
          <a:p>
            <a:r>
              <a:rPr sz="1050">
                <a:solidFill>
                  <a:srgbClr val="1F2937"/>
                </a:solidFill>
                <a:latin typeface="Aptos"/>
              </a:rPr>
              <a:t>Protocols such as `Grader`, `AgentFactory`, `MemoryBackend`, `SkillStore`, `PromptStore`, `MiddlewareHook`.</a:t>
            </a:r>
          </a:p>
          <a:p>
            <a:r>
              <a:rPr sz="1050">
                <a:solidFill>
                  <a:srgbClr val="1F2937"/>
                </a:solidFill>
                <a:latin typeface="Aptos"/>
              </a:rPr>
              <a:t>This is what makes the package composable.</a:t>
            </a:r>
          </a:p>
        </p:txBody>
      </p:sp>
      <p:sp>
        <p:nvSpPr>
          <p:cNvPr id="7" name="Rounded Rectangle 6"/>
          <p:cNvSpPr/>
          <p:nvPr/>
        </p:nvSpPr>
        <p:spPr>
          <a:xfrm>
            <a:off x="3456432" y="2240280"/>
            <a:ext cx="2651760" cy="2971800"/>
          </a:xfrm>
          <a:prstGeom prst="roundRect">
            <a:avLst/>
          </a:prstGeom>
          <a:solidFill>
            <a:srgbClr val="E2F4F1"/>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1
Memory + Skills</a:t>
            </a:r>
          </a:p>
          <a:p>
            <a:r>
              <a:rPr sz="1050">
                <a:solidFill>
                  <a:srgbClr val="1F2937"/>
                </a:solidFill>
                <a:latin typeface="Aptos"/>
              </a:rPr>
              <a:t>File-backed memory namespaces.</a:t>
            </a:r>
          </a:p>
          <a:p>
            <a:r>
              <a:rPr sz="1050">
                <a:solidFill>
                  <a:srgbClr val="1F2937"/>
                </a:solidFill>
                <a:latin typeface="Aptos"/>
              </a:rPr>
              <a:t>Context compression and semantic dedup.</a:t>
            </a:r>
          </a:p>
          <a:p>
            <a:r>
              <a:rPr sz="1050">
                <a:solidFill>
                  <a:srgbClr val="1F2937"/>
                </a:solidFill>
                <a:latin typeface="Aptos"/>
              </a:rPr>
              <a:t>SKILL.md discovery, creation, validation, and extraction from runs.</a:t>
            </a:r>
          </a:p>
        </p:txBody>
      </p:sp>
      <p:sp>
        <p:nvSpPr>
          <p:cNvPr id="8" name="Rounded Rectangle 7"/>
          <p:cNvSpPr/>
          <p:nvPr/>
        </p:nvSpPr>
        <p:spPr>
          <a:xfrm>
            <a:off x="6318504" y="2240280"/>
            <a:ext cx="2651760" cy="2971800"/>
          </a:xfrm>
          <a:prstGeom prst="roundRect">
            <a:avLst/>
          </a:prstGeom>
          <a:solidFill>
            <a:srgbClr val="FFF4E2"/>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2
Harness + Tracing + Grading</a:t>
            </a:r>
          </a:p>
          <a:p>
            <a:r>
              <a:rPr sz="1050">
                <a:solidFill>
                  <a:srgbClr val="1F2937"/>
                </a:solidFill>
                <a:latin typeface="Aptos"/>
              </a:rPr>
              <a:t>Middleware for self-verification, context injection, loop detection, time budget, reasoning phases, trace capture.</a:t>
            </a:r>
          </a:p>
          <a:p>
            <a:r>
              <a:rPr sz="1050">
                <a:solidFill>
                  <a:srgbClr val="1F2937"/>
                </a:solidFill>
                <a:latin typeface="Aptos"/>
              </a:rPr>
              <a:t>Trace capture/fetching.</a:t>
            </a:r>
          </a:p>
          <a:p>
            <a:r>
              <a:rPr sz="1050">
                <a:solidFill>
                  <a:srgbClr val="1F2937"/>
                </a:solidFill>
                <a:latin typeface="Aptos"/>
              </a:rPr>
              <a:t>Evaluation surfaces for quality, efficiency, task completion, and verification.</a:t>
            </a:r>
          </a:p>
        </p:txBody>
      </p:sp>
      <p:sp>
        <p:nvSpPr>
          <p:cNvPr id="9" name="Rounded Rectangle 8"/>
          <p:cNvSpPr/>
          <p:nvPr/>
        </p:nvSpPr>
        <p:spPr>
          <a:xfrm>
            <a:off x="9180576" y="2240280"/>
            <a:ext cx="2377440" cy="2971800"/>
          </a:xfrm>
          <a:prstGeom prst="roundRect">
            <a:avLst/>
          </a:prstGeom>
          <a:solidFill>
            <a:srgbClr val="F8E6E7"/>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3
Evolution</a:t>
            </a:r>
          </a:p>
          <a:p>
            <a:r>
              <a:rPr sz="1050">
                <a:solidFill>
                  <a:srgbClr val="1F2937"/>
                </a:solidFill>
                <a:latin typeface="Aptos"/>
              </a:rPr>
              <a:t>Prompt optimization.</a:t>
            </a:r>
          </a:p>
          <a:p>
            <a:r>
              <a:rPr sz="1050">
                <a:solidFill>
                  <a:srgbClr val="1F2937"/>
                </a:solidFill>
                <a:latin typeface="Aptos"/>
              </a:rPr>
              <a:t>Error analysis.</a:t>
            </a:r>
          </a:p>
          <a:p>
            <a:r>
              <a:rPr sz="1050">
                <a:solidFill>
                  <a:srgbClr val="1F2937"/>
                </a:solidFill>
                <a:latin typeface="Aptos"/>
              </a:rPr>
              <a:t>Sleep review.</a:t>
            </a:r>
          </a:p>
          <a:p>
            <a:r>
              <a:rPr sz="1050">
                <a:solidFill>
                  <a:srgbClr val="1F2937"/>
                </a:solidFill>
                <a:latin typeface="Aptos"/>
              </a:rPr>
              <a:t>Batch evolution helpers for propose-run-grade-accept loops.</a:t>
            </a:r>
          </a:p>
        </p:txBody>
      </p:sp>
      <p:sp>
        <p:nvSpPr>
          <p:cNvPr id="10" name="TextBox 9"/>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Main framework boundary: everything under `evoagent/` is reusable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Application Runtime Architecture</a:t>
            </a:r>
          </a:p>
          <a:p>
            <a:r>
              <a:rPr sz="1200">
                <a:solidFill>
                  <a:srgbClr val="4C5B6A"/>
                </a:solidFill>
                <a:latin typeface="Aptos"/>
              </a:rPr>
              <a:t>The `src/` package specializes the framework into a self-improving research agent.</a:t>
            </a:r>
          </a:p>
        </p:txBody>
      </p:sp>
      <p:sp>
        <p:nvSpPr>
          <p:cNvPr id="3" name="Rounded Rectangle 2"/>
          <p:cNvSpPr/>
          <p:nvPr/>
        </p:nvSpPr>
        <p:spPr>
          <a:xfrm>
            <a:off x="502920" y="1417320"/>
            <a:ext cx="2057400" cy="109728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9659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Version Stores</a:t>
            </a:r>
          </a:p>
        </p:txBody>
      </p:sp>
      <p:sp>
        <p:nvSpPr>
          <p:cNvPr id="5" name="TextBox 4"/>
          <p:cNvSpPr txBox="1"/>
          <p:nvPr/>
        </p:nvSpPr>
        <p:spPr>
          <a:xfrm>
            <a:off x="630936" y="1847088"/>
            <a:ext cx="1801368" cy="621792"/>
          </a:xfrm>
          <a:prstGeom prst="rect">
            <a:avLst/>
          </a:prstGeom>
          <a:noFill/>
        </p:spPr>
        <p:txBody>
          <a:bodyPr wrap="square">
            <a:spAutoFit/>
          </a:bodyPr>
          <a:lstStyle/>
          <a:p>
            <a:pPr algn="l"/>
            <a:r>
              <a:rPr sz="1050">
                <a:solidFill>
                  <a:srgbClr val="1F2937"/>
                </a:solidFill>
                <a:latin typeface="Aptos"/>
              </a:rPr>
              <a:t>PromptStore returns LATEST promoted prompt (ratchet).</a:t>
            </a:r>
          </a:p>
          <a:p>
            <a:pPr algn="l"/>
            <a:r>
              <a:rPr sz="1050">
                <a:solidFill>
                  <a:srgbClr val="1F2937"/>
                </a:solidFill>
                <a:latin typeface="Aptos"/>
              </a:rPr>
              <a:t>HarnessConfigStore returns LATEST promoted config.</a:t>
            </a:r>
          </a:p>
          <a:p>
            <a:pPr algn="l"/>
            <a:r>
              <a:rPr sz="1050">
                <a:solidFill>
                  <a:srgbClr val="1F2937"/>
                </a:solidFill>
                <a:latin typeface="Aptos"/>
              </a:rPr>
              <a:t>Frozen `promotion_score` per version.</a:t>
            </a:r>
          </a:p>
        </p:txBody>
      </p:sp>
      <p:sp>
        <p:nvSpPr>
          <p:cNvPr id="6" name="Chevron 5"/>
          <p:cNvSpPr/>
          <p:nvPr/>
        </p:nvSpPr>
        <p:spPr>
          <a:xfrm>
            <a:off x="2697480" y="1755648"/>
            <a:ext cx="594360" cy="384048"/>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3429000" y="1234440"/>
            <a:ext cx="2377440" cy="146304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74720" y="1280160"/>
            <a:ext cx="228600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Agent Factory
`src/agent/deep_agent.py`</a:t>
            </a:r>
          </a:p>
        </p:txBody>
      </p:sp>
      <p:sp>
        <p:nvSpPr>
          <p:cNvPr id="9" name="TextBox 8"/>
          <p:cNvSpPr txBox="1"/>
          <p:nvPr/>
        </p:nvSpPr>
        <p:spPr>
          <a:xfrm>
            <a:off x="3557016" y="1664208"/>
            <a:ext cx="2121408" cy="987552"/>
          </a:xfrm>
          <a:prstGeom prst="rect">
            <a:avLst/>
          </a:prstGeom>
          <a:noFill/>
        </p:spPr>
        <p:txBody>
          <a:bodyPr wrap="square">
            <a:spAutoFit/>
          </a:bodyPr>
          <a:lstStyle/>
          <a:p>
            <a:pPr algn="l"/>
            <a:r>
              <a:rPr sz="1050">
                <a:solidFill>
                  <a:srgbClr val="1F2937"/>
                </a:solidFill>
                <a:latin typeface="Aptos"/>
              </a:rPr>
              <a:t>Creates LLM.</a:t>
            </a:r>
          </a:p>
          <a:p>
            <a:pPr algn="l"/>
            <a:r>
              <a:rPr sz="1050">
                <a:solidFill>
                  <a:srgbClr val="1F2937"/>
                </a:solidFill>
                <a:latin typeface="Aptos"/>
              </a:rPr>
              <a:t>Creates search tool with harness-tuned parameters.</a:t>
            </a:r>
          </a:p>
          <a:p>
            <a:pPr algn="l"/>
            <a:r>
              <a:rPr sz="1050">
                <a:solidFill>
                  <a:srgbClr val="1F2937"/>
                </a:solidFill>
                <a:latin typeface="Aptos"/>
              </a:rPr>
              <a:t>Loads prompt, memory context, skills, subagents, middleware.</a:t>
            </a:r>
          </a:p>
        </p:txBody>
      </p:sp>
      <p:sp>
        <p:nvSpPr>
          <p:cNvPr id="10" name="Chevron 9"/>
          <p:cNvSpPr/>
          <p:nvPr/>
        </p:nvSpPr>
        <p:spPr>
          <a:xfrm>
            <a:off x="5943600" y="1755648"/>
            <a:ext cx="594360" cy="384048"/>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6629400" y="1234440"/>
            <a:ext cx="2423160" cy="146304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0" y="1280160"/>
            <a:ext cx="233172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deepagents Runtime</a:t>
            </a:r>
          </a:p>
        </p:txBody>
      </p:sp>
      <p:sp>
        <p:nvSpPr>
          <p:cNvPr id="13" name="TextBox 12"/>
          <p:cNvSpPr txBox="1"/>
          <p:nvPr/>
        </p:nvSpPr>
        <p:spPr>
          <a:xfrm>
            <a:off x="6757416" y="1664208"/>
            <a:ext cx="2167128" cy="987552"/>
          </a:xfrm>
          <a:prstGeom prst="rect">
            <a:avLst/>
          </a:prstGeom>
          <a:noFill/>
        </p:spPr>
        <p:txBody>
          <a:bodyPr wrap="square">
            <a:spAutoFit/>
          </a:bodyPr>
          <a:lstStyle/>
          <a:p>
            <a:pPr algn="l"/>
            <a:r>
              <a:rPr sz="1050">
                <a:solidFill>
                  <a:srgbClr val="1F2937"/>
                </a:solidFill>
                <a:latin typeface="Aptos"/>
              </a:rPr>
              <a:t>System prompt = current prompt + compressed memory context.</a:t>
            </a:r>
          </a:p>
          <a:p>
            <a:pPr algn="l"/>
            <a:r>
              <a:rPr sz="1050">
                <a:solidFill>
                  <a:srgbClr val="1F2937"/>
                </a:solidFill>
                <a:latin typeface="Aptos"/>
              </a:rPr>
              <a:t>Middleware stack from `default_middleware_stack()`.</a:t>
            </a:r>
          </a:p>
          <a:p>
            <a:pPr algn="l"/>
            <a:r>
              <a:rPr sz="1050">
                <a:solidFill>
                  <a:srgbClr val="1F2937"/>
                </a:solidFill>
                <a:latin typeface="Aptos"/>
              </a:rPr>
              <a:t>Primary tool = search.</a:t>
            </a:r>
          </a:p>
        </p:txBody>
      </p:sp>
      <p:sp>
        <p:nvSpPr>
          <p:cNvPr id="14" name="Chevron 13"/>
          <p:cNvSpPr/>
          <p:nvPr/>
        </p:nvSpPr>
        <p:spPr>
          <a:xfrm>
            <a:off x="9171432" y="1755648"/>
            <a:ext cx="594360" cy="384048"/>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5" name="Rounded Rectangle 14"/>
          <p:cNvSpPr/>
          <p:nvPr/>
        </p:nvSpPr>
        <p:spPr>
          <a:xfrm>
            <a:off x="9875520" y="1417320"/>
            <a:ext cx="1783080" cy="109728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21240" y="1463040"/>
            <a:ext cx="1691639"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Task Output</a:t>
            </a:r>
          </a:p>
        </p:txBody>
      </p:sp>
      <p:sp>
        <p:nvSpPr>
          <p:cNvPr id="17" name="TextBox 16"/>
          <p:cNvSpPr txBox="1"/>
          <p:nvPr/>
        </p:nvSpPr>
        <p:spPr>
          <a:xfrm>
            <a:off x="10003536" y="1847088"/>
            <a:ext cx="1527048" cy="621792"/>
          </a:xfrm>
          <a:prstGeom prst="rect">
            <a:avLst/>
          </a:prstGeom>
          <a:noFill/>
        </p:spPr>
        <p:txBody>
          <a:bodyPr wrap="square">
            <a:spAutoFit/>
          </a:bodyPr>
          <a:lstStyle/>
          <a:p>
            <a:pPr algn="l"/>
            <a:r>
              <a:rPr sz="1050">
                <a:solidFill>
                  <a:srgbClr val="1F2937"/>
                </a:solidFill>
                <a:latin typeface="Aptos"/>
              </a:rPr>
              <a:t>Final answer</a:t>
            </a:r>
          </a:p>
          <a:p>
            <a:pPr algn="l"/>
            <a:r>
              <a:rPr sz="1050">
                <a:solidFill>
                  <a:srgbClr val="1F2937"/>
                </a:solidFill>
                <a:latin typeface="Aptos"/>
              </a:rPr>
              <a:t>plus trace side effects</a:t>
            </a:r>
          </a:p>
        </p:txBody>
      </p:sp>
      <p:sp>
        <p:nvSpPr>
          <p:cNvPr id="18" name="Rounded Rectangle 17"/>
          <p:cNvSpPr/>
          <p:nvPr/>
        </p:nvSpPr>
        <p:spPr>
          <a:xfrm>
            <a:off x="640080" y="3063240"/>
            <a:ext cx="3520440" cy="22860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What is fixed vs learned</a:t>
            </a:r>
          </a:p>
          <a:p>
            <a:r>
              <a:rPr sz="1050">
                <a:solidFill>
                  <a:srgbClr val="1F2937"/>
                </a:solidFill>
                <a:latin typeface="Aptos"/>
              </a:rPr>
              <a:t>Fixed at runtime:</a:t>
            </a:r>
          </a:p>
          <a:p>
            <a:r>
              <a:rPr sz="1050">
                <a:solidFill>
                  <a:srgbClr val="1F2937"/>
                </a:solidFill>
                <a:latin typeface="Aptos"/>
              </a:rPr>
              <a:t>`deepagents` execution model, grader classes, storage schema.</a:t>
            </a:r>
          </a:p>
          <a:p>
            <a:r>
              <a:rPr sz="1050">
                <a:solidFill>
                  <a:srgbClr val="1F2937"/>
                </a:solidFill>
                <a:latin typeface="Aptos"/>
              </a:rPr>
              <a:t/>
            </a:r>
          </a:p>
          <a:p>
            <a:r>
              <a:rPr sz="1050">
                <a:solidFill>
                  <a:srgbClr val="1F2937"/>
                </a:solidFill>
                <a:latin typeface="Aptos"/>
              </a:rPr>
              <a:t>Learned across runs:</a:t>
            </a:r>
          </a:p>
          <a:p>
            <a:r>
              <a:rPr sz="1050">
                <a:solidFill>
                  <a:srgbClr val="1F2937"/>
                </a:solidFill>
                <a:latin typeface="Aptos"/>
              </a:rPr>
              <a:t>prompt versions, harness config versions, learned skills, episodic summaries, semantic patterns, meta-instructions.</a:t>
            </a:r>
          </a:p>
        </p:txBody>
      </p:sp>
      <p:sp>
        <p:nvSpPr>
          <p:cNvPr id="19" name="Rounded Rectangle 18"/>
          <p:cNvSpPr/>
          <p:nvPr/>
        </p:nvSpPr>
        <p:spPr>
          <a:xfrm>
            <a:off x="4389120" y="3063240"/>
            <a:ext cx="3520440" cy="22860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Why `src/` stays thin</a:t>
            </a:r>
          </a:p>
          <a:p>
            <a:r>
              <a:rPr sz="1050">
                <a:solidFill>
                  <a:srgbClr val="1F2937"/>
                </a:solidFill>
                <a:latin typeface="Aptos"/>
              </a:rPr>
              <a:t>Application code mostly composes library pieces rather than re-implementing them.</a:t>
            </a:r>
          </a:p>
          <a:p>
            <a:r>
              <a:rPr sz="1050">
                <a:solidFill>
                  <a:srgbClr val="1F2937"/>
                </a:solidFill>
                <a:latin typeface="Aptos"/>
              </a:rPr>
              <a:t>That is what makes the framework reusable: a different agent can swap the toolset and prompt domain while keeping the same improvement machinery.</a:t>
            </a:r>
          </a:p>
        </p:txBody>
      </p:sp>
      <p:sp>
        <p:nvSpPr>
          <p:cNvPr id="20" name="Rounded Rectangle 19"/>
          <p:cNvSpPr/>
          <p:nvPr/>
        </p:nvSpPr>
        <p:spPr>
          <a:xfrm>
            <a:off x="8138160" y="3063240"/>
            <a:ext cx="3429000" cy="22860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Critical join points</a:t>
            </a:r>
          </a:p>
          <a:p>
            <a:r>
              <a:rPr sz="1050">
                <a:solidFill>
                  <a:srgbClr val="1F2937"/>
                </a:solidFill>
                <a:latin typeface="Aptos"/>
              </a:rPr>
              <a:t>`create_agent()` joins prompt store, harness config store, skills directory, memory compression, and tracing.</a:t>
            </a:r>
          </a:p>
          <a:p>
            <a:r>
              <a:rPr sz="1050">
                <a:solidFill>
                  <a:srgbClr val="1F2937"/>
                </a:solidFill>
                <a:latin typeface="Aptos"/>
              </a:rPr>
              <a:t>That function is the bridge where offline learning re-enters the hot path of the next run.</a:t>
            </a:r>
          </a:p>
        </p:txBody>
      </p:sp>
      <p:sp>
        <p:nvSpPr>
          <p:cNvPr id="21" name="TextBox 20"/>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Hot path: read best versions -&gt; run agent -&gt; emit new evidence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Harness Stack</a:t>
            </a:r>
          </a:p>
          <a:p>
            <a:r>
              <a:rPr sz="1200">
                <a:solidFill>
                  <a:srgbClr val="4C5B6A"/>
                </a:solidFill>
                <a:latin typeface="Aptos"/>
              </a:rPr>
              <a:t>`evoagent/harness/builder.py` assembles six middleware modules; `HarnessConfig` controls most of their behavior.</a:t>
            </a:r>
          </a:p>
        </p:txBody>
      </p:sp>
      <p:sp>
        <p:nvSpPr>
          <p:cNvPr id="3" name="Rounded Rectangle 2"/>
          <p:cNvSpPr/>
          <p:nvPr/>
        </p:nvSpPr>
        <p:spPr>
          <a:xfrm>
            <a:off x="411480" y="1508760"/>
            <a:ext cx="1691640" cy="3383280"/>
          </a:xfrm>
          <a:prstGeom prst="roundRect">
            <a:avLst/>
          </a:prstGeom>
          <a:solidFill>
            <a:srgbClr val="E9F2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1. SelfVerification</a:t>
            </a:r>
          </a:p>
          <a:p>
            <a:r>
              <a:rPr sz="1050">
                <a:solidFill>
                  <a:srgbClr val="1F2937"/>
                </a:solidFill>
                <a:latin typeface="Aptos"/>
              </a:rPr>
              <a:t>Checks structure, length, task coverage, and optional completion checks; retries before finalizing.</a:t>
            </a:r>
          </a:p>
        </p:txBody>
      </p:sp>
      <p:sp>
        <p:nvSpPr>
          <p:cNvPr id="4" name="Chevron 3"/>
          <p:cNvSpPr/>
          <p:nvPr/>
        </p:nvSpPr>
        <p:spPr>
          <a:xfrm>
            <a:off x="216712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5" name="Rounded Rectangle 4"/>
          <p:cNvSpPr/>
          <p:nvPr/>
        </p:nvSpPr>
        <p:spPr>
          <a:xfrm>
            <a:off x="2331720" y="1508760"/>
            <a:ext cx="1691640" cy="3383280"/>
          </a:xfrm>
          <a:prstGeom prst="roundRect">
            <a:avLst/>
          </a:prstGeom>
          <a:solidFill>
            <a:srgbClr val="E2F4F1"/>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2. ContextAssembly</a:t>
            </a:r>
          </a:p>
          <a:p>
            <a:r>
              <a:rPr sz="1050">
                <a:solidFill>
                  <a:srgbClr val="1F2937"/>
                </a:solidFill>
                <a:latin typeface="Aptos"/>
              </a:rPr>
              <a:t>Injects environment snapshot and discovered skills on the first model call.</a:t>
            </a:r>
          </a:p>
        </p:txBody>
      </p:sp>
      <p:sp>
        <p:nvSpPr>
          <p:cNvPr id="6" name="Chevron 5"/>
          <p:cNvSpPr/>
          <p:nvPr/>
        </p:nvSpPr>
        <p:spPr>
          <a:xfrm>
            <a:off x="408736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4251960" y="1508760"/>
            <a:ext cx="1691640" cy="3383280"/>
          </a:xfrm>
          <a:prstGeom prst="roundRect">
            <a:avLst/>
          </a:prstGeom>
          <a:solidFill>
            <a:srgbClr val="FFF4E2"/>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3. LoopDetection</a:t>
            </a:r>
          </a:p>
          <a:p>
            <a:r>
              <a:rPr sz="1050">
                <a:solidFill>
                  <a:srgbClr val="1F2937"/>
                </a:solidFill>
                <a:latin typeface="Aptos"/>
              </a:rPr>
              <a:t>Detects repeated searches, repeated tools, and file-edit loops; nudges toward synthesis.</a:t>
            </a:r>
          </a:p>
        </p:txBody>
      </p:sp>
      <p:sp>
        <p:nvSpPr>
          <p:cNvPr id="8" name="Chevron 7"/>
          <p:cNvSpPr/>
          <p:nvPr/>
        </p:nvSpPr>
        <p:spPr>
          <a:xfrm>
            <a:off x="600760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9" name="Rounded Rectangle 8"/>
          <p:cNvSpPr/>
          <p:nvPr/>
        </p:nvSpPr>
        <p:spPr>
          <a:xfrm>
            <a:off x="6172200" y="1508760"/>
            <a:ext cx="1691640" cy="3383280"/>
          </a:xfrm>
          <a:prstGeom prst="roundRect">
            <a:avLst/>
          </a:prstGeom>
          <a:solidFill>
            <a:srgbClr val="F8E6E7"/>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4. TimeBudget</a:t>
            </a:r>
          </a:p>
          <a:p>
            <a:r>
              <a:rPr sz="1050">
                <a:solidFill>
                  <a:srgbClr val="1F2937"/>
                </a:solidFill>
                <a:latin typeface="Aptos"/>
              </a:rPr>
              <a:t>Appends escalating warnings to tool responses as budget is consumed.</a:t>
            </a:r>
          </a:p>
        </p:txBody>
      </p:sp>
      <p:sp>
        <p:nvSpPr>
          <p:cNvPr id="10" name="Chevron 9"/>
          <p:cNvSpPr/>
          <p:nvPr/>
        </p:nvSpPr>
        <p:spPr>
          <a:xfrm>
            <a:off x="792784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8092440" y="1508760"/>
            <a:ext cx="1691640" cy="3383280"/>
          </a:xfrm>
          <a:prstGeom prst="roundRect">
            <a:avLst/>
          </a:prstGeom>
          <a:solidFill>
            <a:srgbClr val="E8E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5. ReasoningSandwich</a:t>
            </a:r>
          </a:p>
          <a:p>
            <a:r>
              <a:rPr sz="1050">
                <a:solidFill>
                  <a:srgbClr val="1F2937"/>
                </a:solidFill>
                <a:latin typeface="Aptos"/>
              </a:rPr>
              <a:t>Allocates more reasoning effort to planning and verification phases than execution phase.</a:t>
            </a:r>
          </a:p>
        </p:txBody>
      </p:sp>
      <p:sp>
        <p:nvSpPr>
          <p:cNvPr id="12" name="Chevron 11"/>
          <p:cNvSpPr/>
          <p:nvPr/>
        </p:nvSpPr>
        <p:spPr>
          <a:xfrm>
            <a:off x="984808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3" name="Rounded Rectangle 12"/>
          <p:cNvSpPr/>
          <p:nvPr/>
        </p:nvSpPr>
        <p:spPr>
          <a:xfrm>
            <a:off x="10012680" y="1508760"/>
            <a:ext cx="1691640" cy="3383280"/>
          </a:xfrm>
          <a:prstGeom prst="roundRect">
            <a:avLst/>
          </a:prstGeom>
          <a:solidFill>
            <a:srgbClr val="ECECE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6. TraceCapture</a:t>
            </a:r>
          </a:p>
          <a:p>
            <a:r>
              <a:rPr sz="1050">
                <a:solidFill>
                  <a:srgbClr val="1F2937"/>
                </a:solidFill>
                <a:latin typeface="Aptos"/>
              </a:rPr>
              <a:t>Persists trace data for offline diagnosis and LangSmith/local analysis.</a:t>
            </a:r>
          </a:p>
        </p:txBody>
      </p:sp>
      <p:sp>
        <p:nvSpPr>
          <p:cNvPr id="14" name="Rounded Rectangle 13"/>
          <p:cNvSpPr/>
          <p:nvPr/>
        </p:nvSpPr>
        <p:spPr>
          <a:xfrm>
            <a:off x="731520" y="5257800"/>
            <a:ext cx="10972800" cy="822960"/>
          </a:xfrm>
          <a:prstGeom prst="roundRect">
            <a:avLst/>
          </a:prstGeom>
          <a:solidFill>
            <a:srgbClr val="FFFFFF"/>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5303520"/>
            <a:ext cx="108813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Tunable surface</a:t>
            </a:r>
          </a:p>
        </p:txBody>
      </p:sp>
      <p:sp>
        <p:nvSpPr>
          <p:cNvPr id="16" name="TextBox 15"/>
          <p:cNvSpPr txBox="1"/>
          <p:nvPr/>
        </p:nvSpPr>
        <p:spPr>
          <a:xfrm>
            <a:off x="859536" y="5687568"/>
            <a:ext cx="10716768" cy="347472"/>
          </a:xfrm>
          <a:prstGeom prst="rect">
            <a:avLst/>
          </a:prstGeom>
          <a:noFill/>
        </p:spPr>
        <p:txBody>
          <a:bodyPr wrap="square">
            <a:spAutoFit/>
          </a:bodyPr>
          <a:lstStyle/>
          <a:p>
            <a:pPr algn="l"/>
            <a:r>
              <a:rPr sz="1050">
                <a:solidFill>
                  <a:srgbClr val="1F2937"/>
                </a:solidFill>
                <a:latin typeface="Aptos"/>
              </a:rPr>
              <a:t>`HarnessConfig` includes retries, required sections, completion checks, loop thresholds, file edit thresholds, warning points, reasoning efforts, planning call count, environment detection, and search-tool parameters such as retry count, delay, result count, and search depth.</a:t>
            </a:r>
          </a:p>
        </p:txBody>
      </p:sp>
      <p:sp>
        <p:nvSpPr>
          <p:cNvPr id="17" name="TextBox 16"/>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This harness is learned configuration, not hard-coded policy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How One Run Produces Learning Signal</a:t>
            </a:r>
          </a:p>
          <a:p>
            <a:r>
              <a:rPr sz="1200">
                <a:solidFill>
                  <a:srgbClr val="4C5B6A"/>
                </a:solidFill>
                <a:latin typeface="Aptos"/>
              </a:rPr>
              <a:t>The run path is implemented in `src/cli/commands.py::cmd_run`.</a:t>
            </a:r>
          </a:p>
        </p:txBody>
      </p:sp>
      <p:sp>
        <p:nvSpPr>
          <p:cNvPr id="3" name="Rounded Rectangle 2"/>
          <p:cNvSpPr/>
          <p:nvPr/>
        </p:nvSpPr>
        <p:spPr>
          <a:xfrm>
            <a:off x="502920" y="1463040"/>
            <a:ext cx="1828800" cy="91440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508760"/>
            <a:ext cx="17373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1. Execute</a:t>
            </a:r>
          </a:p>
        </p:txBody>
      </p:sp>
      <p:sp>
        <p:nvSpPr>
          <p:cNvPr id="5" name="TextBox 4"/>
          <p:cNvSpPr txBox="1"/>
          <p:nvPr/>
        </p:nvSpPr>
        <p:spPr>
          <a:xfrm>
            <a:off x="630936" y="1892808"/>
            <a:ext cx="1572768" cy="438912"/>
          </a:xfrm>
          <a:prstGeom prst="rect">
            <a:avLst/>
          </a:prstGeom>
          <a:noFill/>
        </p:spPr>
        <p:txBody>
          <a:bodyPr wrap="square">
            <a:spAutoFit/>
          </a:bodyPr>
          <a:lstStyle/>
          <a:p>
            <a:pPr algn="l"/>
            <a:r>
              <a:rPr sz="1050">
                <a:solidFill>
                  <a:srgbClr val="1F2937"/>
                </a:solidFill>
                <a:latin typeface="Aptos"/>
              </a:rPr>
              <a:t>Agent answers the task with current prompt, memory context, tools, and harness.</a:t>
            </a:r>
          </a:p>
        </p:txBody>
      </p:sp>
      <p:sp>
        <p:nvSpPr>
          <p:cNvPr id="6" name="Chevron 5"/>
          <p:cNvSpPr/>
          <p:nvPr/>
        </p:nvSpPr>
        <p:spPr>
          <a:xfrm>
            <a:off x="24231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3017520" y="1463040"/>
            <a:ext cx="1828800" cy="91440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063239" y="1508760"/>
            <a:ext cx="17373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2. Grade</a:t>
            </a:r>
          </a:p>
        </p:txBody>
      </p:sp>
      <p:sp>
        <p:nvSpPr>
          <p:cNvPr id="9" name="TextBox 8"/>
          <p:cNvSpPr txBox="1"/>
          <p:nvPr/>
        </p:nvSpPr>
        <p:spPr>
          <a:xfrm>
            <a:off x="3145536" y="1892808"/>
            <a:ext cx="1572768" cy="438912"/>
          </a:xfrm>
          <a:prstGeom prst="rect">
            <a:avLst/>
          </a:prstGeom>
          <a:noFill/>
        </p:spPr>
        <p:txBody>
          <a:bodyPr wrap="square">
            <a:spAutoFit/>
          </a:bodyPr>
          <a:lstStyle/>
          <a:p>
            <a:pPr algn="l"/>
            <a:r>
              <a:rPr sz="1050">
                <a:solidFill>
                  <a:srgbClr val="1F2937"/>
                </a:solidFill>
                <a:latin typeface="Aptos"/>
              </a:rPr>
              <a:t>Trajectory is scored for task completion, quality, efficiency, and claim verification.</a:t>
            </a:r>
          </a:p>
        </p:txBody>
      </p:sp>
      <p:sp>
        <p:nvSpPr>
          <p:cNvPr id="10" name="Chevron 9"/>
          <p:cNvSpPr/>
          <p:nvPr/>
        </p:nvSpPr>
        <p:spPr>
          <a:xfrm>
            <a:off x="49377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5532120" y="1463040"/>
            <a:ext cx="1828800" cy="91440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1508760"/>
            <a:ext cx="17373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3. Observed score</a:t>
            </a:r>
          </a:p>
        </p:txBody>
      </p:sp>
      <p:sp>
        <p:nvSpPr>
          <p:cNvPr id="13" name="TextBox 12"/>
          <p:cNvSpPr txBox="1"/>
          <p:nvPr/>
        </p:nvSpPr>
        <p:spPr>
          <a:xfrm>
            <a:off x="5660136" y="1892808"/>
            <a:ext cx="1572768" cy="438912"/>
          </a:xfrm>
          <a:prstGeom prst="rect">
            <a:avLst/>
          </a:prstGeom>
          <a:noFill/>
        </p:spPr>
        <p:txBody>
          <a:bodyPr wrap="square">
            <a:spAutoFit/>
          </a:bodyPr>
          <a:lstStyle/>
          <a:p>
            <a:pPr algn="l"/>
            <a:r>
              <a:rPr sz="1050">
                <a:solidFill>
                  <a:srgbClr val="1F2937"/>
                </a:solidFill>
                <a:latin typeface="Aptos"/>
              </a:rPr>
              <a:t>Per-run scores feed the running observed average.</a:t>
            </a:r>
          </a:p>
          <a:p>
            <a:pPr algn="l"/>
            <a:r>
              <a:rPr sz="1050">
                <a:solidFill>
                  <a:srgbClr val="1F2937"/>
                </a:solidFill>
                <a:latin typeface="Aptos"/>
              </a:rPr>
              <a:t>The frozen `promotion_score` is NOT touched here.</a:t>
            </a:r>
          </a:p>
        </p:txBody>
      </p:sp>
      <p:sp>
        <p:nvSpPr>
          <p:cNvPr id="14" name="Chevron 13"/>
          <p:cNvSpPr/>
          <p:nvPr/>
        </p:nvSpPr>
        <p:spPr>
          <a:xfrm>
            <a:off x="74523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5" name="Rounded Rectangle 14"/>
          <p:cNvSpPr/>
          <p:nvPr/>
        </p:nvSpPr>
        <p:spPr>
          <a:xfrm>
            <a:off x="8046720" y="1463040"/>
            <a:ext cx="1828800" cy="91440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92440" y="1508760"/>
            <a:ext cx="1737360"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4. Run log</a:t>
            </a:r>
          </a:p>
        </p:txBody>
      </p:sp>
      <p:sp>
        <p:nvSpPr>
          <p:cNvPr id="17" name="TextBox 16"/>
          <p:cNvSpPr txBox="1"/>
          <p:nvPr/>
        </p:nvSpPr>
        <p:spPr>
          <a:xfrm>
            <a:off x="8174736" y="1892808"/>
            <a:ext cx="1572768" cy="438912"/>
          </a:xfrm>
          <a:prstGeom prst="rect">
            <a:avLst/>
          </a:prstGeom>
          <a:noFill/>
        </p:spPr>
        <p:txBody>
          <a:bodyPr wrap="square">
            <a:spAutoFit/>
          </a:bodyPr>
          <a:lstStyle/>
          <a:p>
            <a:pPr algn="l"/>
            <a:r>
              <a:rPr sz="1050">
                <a:solidFill>
                  <a:srgbClr val="1F2937"/>
                </a:solidFill>
                <a:latin typeface="Aptos"/>
              </a:rPr>
              <a:t>Structured entry is appended to `evolution_state/run_log.jsonl`.</a:t>
            </a:r>
          </a:p>
        </p:txBody>
      </p:sp>
      <p:sp>
        <p:nvSpPr>
          <p:cNvPr id="18" name="Chevron 17"/>
          <p:cNvSpPr/>
          <p:nvPr/>
        </p:nvSpPr>
        <p:spPr>
          <a:xfrm>
            <a:off x="99669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9" name="Rounded Rectangle 18"/>
          <p:cNvSpPr/>
          <p:nvPr/>
        </p:nvSpPr>
        <p:spPr>
          <a:xfrm>
            <a:off x="10561320" y="1463040"/>
            <a:ext cx="1143000" cy="914400"/>
          </a:xfrm>
          <a:prstGeom prst="roundRect">
            <a:avLst/>
          </a:prstGeom>
          <a:solidFill>
            <a:srgbClr val="FFFF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607040" y="1508760"/>
            <a:ext cx="1051560" cy="329184"/>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5. Reflect</a:t>
            </a:r>
          </a:p>
        </p:txBody>
      </p:sp>
      <p:sp>
        <p:nvSpPr>
          <p:cNvPr id="21" name="TextBox 20"/>
          <p:cNvSpPr txBox="1"/>
          <p:nvPr/>
        </p:nvSpPr>
        <p:spPr>
          <a:xfrm>
            <a:off x="10689336" y="1892808"/>
            <a:ext cx="886968" cy="438912"/>
          </a:xfrm>
          <a:prstGeom prst="rect">
            <a:avLst/>
          </a:prstGeom>
          <a:noFill/>
        </p:spPr>
        <p:txBody>
          <a:bodyPr wrap="square">
            <a:spAutoFit/>
          </a:bodyPr>
          <a:lstStyle/>
          <a:p>
            <a:pPr algn="l"/>
            <a:r>
              <a:rPr sz="1050">
                <a:solidFill>
                  <a:srgbClr val="1F2937"/>
                </a:solidFill>
                <a:latin typeface="Aptos"/>
              </a:rPr>
              <a:t>Store episodic + semantic memory.</a:t>
            </a:r>
          </a:p>
        </p:txBody>
      </p:sp>
      <p:sp>
        <p:nvSpPr>
          <p:cNvPr id="22" name="Rounded Rectangle 21"/>
          <p:cNvSpPr/>
          <p:nvPr/>
        </p:nvSpPr>
        <p:spPr>
          <a:xfrm>
            <a:off x="685800" y="2834640"/>
            <a:ext cx="5394960" cy="256032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What gets persisted immediately</a:t>
            </a:r>
          </a:p>
          <a:p>
            <a:r>
              <a:rPr sz="1050">
                <a:solidFill>
                  <a:srgbClr val="1F2937"/>
                </a:solidFill>
                <a:latin typeface="Aptos"/>
              </a:rPr>
              <a:t>`update_score()` only mutates the running observed average. The `promotion_score` field is frozen at promotion time, so observed drift can never silently roll the active version backward (the ratchet).</a:t>
            </a:r>
          </a:p>
          <a:p>
            <a:r>
              <a:rPr sz="1050">
                <a:solidFill>
                  <a:srgbClr val="1F2937"/>
                </a:solidFill>
                <a:latin typeface="Aptos"/>
              </a:rPr>
              <a:t/>
            </a:r>
          </a:p>
          <a:p>
            <a:r>
              <a:rPr sz="1050">
                <a:solidFill>
                  <a:srgbClr val="1F2937"/>
                </a:solidFill>
                <a:latin typeface="Aptos"/>
              </a:rPr>
              <a:t>`RunLogEntry` captures task, output, classification, average score, per-grader reasoning, prompt version, harness config version, and optional trace path.</a:t>
            </a:r>
          </a:p>
          <a:p>
            <a:r>
              <a:rPr sz="1050">
                <a:solidFill>
                  <a:srgbClr val="1F2937"/>
                </a:solidFill>
                <a:latin typeface="Aptos"/>
              </a:rPr>
              <a:t/>
            </a:r>
          </a:p>
          <a:p>
            <a:r>
              <a:rPr sz="1050">
                <a:solidFill>
                  <a:srgbClr val="1F2937"/>
                </a:solidFill>
                <a:latin typeface="Aptos"/>
              </a:rPr>
              <a:t>`reflect_and_store()` writes:</a:t>
            </a:r>
          </a:p>
          <a:p>
            <a:r>
              <a:rPr sz="1050">
                <a:solidFill>
                  <a:srgbClr val="1F2937"/>
                </a:solidFill>
                <a:latin typeface="Aptos"/>
              </a:rPr>
              <a:t>- episodic memory = run summary, what worked, what to improve, output preview</a:t>
            </a:r>
          </a:p>
          <a:p>
            <a:r>
              <a:rPr sz="1050">
                <a:solidFill>
                  <a:srgbClr val="1F2937"/>
                </a:solidFill>
                <a:latin typeface="Aptos"/>
              </a:rPr>
              <a:t>- semantic memory = extracted facts and patterns</a:t>
            </a:r>
          </a:p>
        </p:txBody>
      </p:sp>
      <p:sp>
        <p:nvSpPr>
          <p:cNvPr id="23" name="Rounded Rectangle 22"/>
          <p:cNvSpPr/>
          <p:nvPr/>
        </p:nvSpPr>
        <p:spPr>
          <a:xfrm>
            <a:off x="6355080" y="2834640"/>
            <a:ext cx="5166360" cy="256032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Why this matters</a:t>
            </a:r>
          </a:p>
          <a:p>
            <a:r>
              <a:rPr sz="1050">
                <a:solidFill>
                  <a:srgbClr val="1F2937"/>
                </a:solidFill>
                <a:latin typeface="Aptos"/>
              </a:rPr>
              <a:t>The project does not wait for a separate benchmark stage to learn.</a:t>
            </a:r>
          </a:p>
          <a:p>
            <a:r>
              <a:rPr sz="1050">
                <a:solidFill>
                  <a:srgbClr val="1F2937"/>
                </a:solidFill>
                <a:latin typeface="Aptos"/>
              </a:rPr>
              <a:t>Every user task is simultaneously:</a:t>
            </a:r>
          </a:p>
          <a:p>
            <a:r>
              <a:rPr sz="1050">
                <a:solidFill>
                  <a:srgbClr val="1F2937"/>
                </a:solidFill>
                <a:latin typeface="Aptos"/>
              </a:rPr>
              <a:t>- serving traffic</a:t>
            </a:r>
          </a:p>
          <a:p>
            <a:r>
              <a:rPr sz="1050">
                <a:solidFill>
                  <a:srgbClr val="1F2937"/>
                </a:solidFill>
                <a:latin typeface="Aptos"/>
              </a:rPr>
              <a:t>- producing reward signal</a:t>
            </a:r>
          </a:p>
          <a:p>
            <a:r>
              <a:rPr sz="1050">
                <a:solidFill>
                  <a:srgbClr val="1F2937"/>
                </a:solidFill>
                <a:latin typeface="Aptos"/>
              </a:rPr>
              <a:t>- producing text feedback</a:t>
            </a:r>
          </a:p>
          <a:p>
            <a:r>
              <a:rPr sz="1050">
                <a:solidFill>
                  <a:srgbClr val="1F2937"/>
                </a:solidFill>
                <a:latin typeface="Aptos"/>
              </a:rPr>
              <a:t>- producing memory</a:t>
            </a:r>
          </a:p>
          <a:p>
            <a:r>
              <a:rPr sz="1050">
                <a:solidFill>
                  <a:srgbClr val="1F2937"/>
                </a:solidFill>
                <a:latin typeface="Aptos"/>
              </a:rPr>
              <a:t>- producing trace evidence for later diagnosis</a:t>
            </a:r>
          </a:p>
        </p:txBody>
      </p:sp>
      <p:sp>
        <p:nvSpPr>
          <p:cNvPr id="24" name="TextBox 23"/>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Per-run loop = hot-path learning and evidence capture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Background Daemon</a:t>
            </a:r>
          </a:p>
          <a:p>
            <a:r>
              <a:rPr sz="1200">
                <a:solidFill>
                  <a:srgbClr val="4C5B6A"/>
                </a:solidFill>
                <a:latin typeface="Aptos"/>
              </a:rPr>
              <a:t>`src/evolution/daemon.py` is the primary continuous-improvement loop.</a:t>
            </a:r>
          </a:p>
        </p:txBody>
      </p:sp>
      <p:sp>
        <p:nvSpPr>
          <p:cNvPr id="3" name="Rounded Rectangle 2"/>
          <p:cNvSpPr/>
          <p:nvPr/>
        </p:nvSpPr>
        <p:spPr>
          <a:xfrm>
            <a:off x="594360" y="1417320"/>
            <a:ext cx="1965960" cy="100584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463040"/>
            <a:ext cx="1874519"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Trigger</a:t>
            </a:r>
          </a:p>
        </p:txBody>
      </p:sp>
      <p:sp>
        <p:nvSpPr>
          <p:cNvPr id="5" name="TextBox 4"/>
          <p:cNvSpPr txBox="1"/>
          <p:nvPr/>
        </p:nvSpPr>
        <p:spPr>
          <a:xfrm>
            <a:off x="722376" y="1847088"/>
            <a:ext cx="1709928" cy="530352"/>
          </a:xfrm>
          <a:prstGeom prst="rect">
            <a:avLst/>
          </a:prstGeom>
          <a:noFill/>
        </p:spPr>
        <p:txBody>
          <a:bodyPr wrap="square">
            <a:spAutoFit/>
          </a:bodyPr>
          <a:lstStyle/>
          <a:p>
            <a:pPr algn="l"/>
            <a:r>
              <a:rPr sz="1050">
                <a:solidFill>
                  <a:srgbClr val="1F2937"/>
                </a:solidFill>
                <a:latin typeface="Aptos"/>
              </a:rPr>
              <a:t>Poll `run_log.jsonl` every 60s.</a:t>
            </a:r>
          </a:p>
          <a:p>
            <a:pPr algn="l"/>
            <a:r>
              <a:rPr sz="1050">
                <a:solidFill>
                  <a:srgbClr val="1F2937"/>
                </a:solidFill>
                <a:latin typeface="Aptos"/>
              </a:rPr>
              <a:t>Start when 3+ unprocessed runs accumulate.</a:t>
            </a:r>
          </a:p>
          <a:p>
            <a:pPr algn="l"/>
            <a:r>
              <a:rPr sz="1050">
                <a:solidFill>
                  <a:srgbClr val="1F2937"/>
                </a:solidFill>
                <a:latin typeface="Aptos"/>
              </a:rPr>
              <a:t>Load held-out tasks via `_load_holdout_tasks()` (stable seed=42).</a:t>
            </a:r>
          </a:p>
        </p:txBody>
      </p:sp>
      <p:sp>
        <p:nvSpPr>
          <p:cNvPr id="6" name="Chevron 5"/>
          <p:cNvSpPr/>
          <p:nvPr/>
        </p:nvSpPr>
        <p:spPr>
          <a:xfrm>
            <a:off x="2697480" y="1755648"/>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3246120" y="1188720"/>
            <a:ext cx="1828800" cy="146304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91839" y="1234440"/>
            <a:ext cx="17373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1. Prompt opt</a:t>
            </a:r>
          </a:p>
        </p:txBody>
      </p:sp>
      <p:sp>
        <p:nvSpPr>
          <p:cNvPr id="9" name="TextBox 8"/>
          <p:cNvSpPr txBox="1"/>
          <p:nvPr/>
        </p:nvSpPr>
        <p:spPr>
          <a:xfrm>
            <a:off x="3374136" y="1618488"/>
            <a:ext cx="1572768" cy="987552"/>
          </a:xfrm>
          <a:prstGeom prst="rect">
            <a:avLst/>
          </a:prstGeom>
          <a:noFill/>
        </p:spPr>
        <p:txBody>
          <a:bodyPr wrap="square">
            <a:spAutoFit/>
          </a:bodyPr>
          <a:lstStyle/>
          <a:p>
            <a:pPr algn="l"/>
            <a:r>
              <a:rPr sz="1050">
                <a:solidFill>
                  <a:srgbClr val="1F2937"/>
                </a:solidFill>
                <a:latin typeface="Aptos"/>
              </a:rPr>
              <a:t>Analyze failures + traces.</a:t>
            </a:r>
          </a:p>
          <a:p>
            <a:pPr algn="l"/>
            <a:r>
              <a:rPr sz="1050">
                <a:solidFill>
                  <a:srgbClr val="1F2937"/>
                </a:solidFill>
                <a:latin typeface="Aptos"/>
              </a:rPr>
              <a:t>Generate candidates.</a:t>
            </a:r>
          </a:p>
          <a:p>
            <a:pPr algn="l"/>
            <a:r>
              <a:rPr sz="1050">
                <a:solidFill>
                  <a:srgbClr val="1F2937"/>
                </a:solidFill>
                <a:latin typeface="Aptos"/>
              </a:rPr>
              <a:t>Gate via held-out pairwise.</a:t>
            </a:r>
          </a:p>
          <a:p>
            <a:pPr algn="l"/>
            <a:r>
              <a:rPr sz="1050">
                <a:solidFill>
                  <a:srgbClr val="1F2937"/>
                </a:solidFill>
                <a:latin typeface="Aptos"/>
              </a:rPr>
              <a:t>No orphan writes on reject.</a:t>
            </a:r>
          </a:p>
        </p:txBody>
      </p:sp>
      <p:sp>
        <p:nvSpPr>
          <p:cNvPr id="10" name="Chevron 9"/>
          <p:cNvSpPr/>
          <p:nvPr/>
        </p:nvSpPr>
        <p:spPr>
          <a:xfrm>
            <a:off x="5212080" y="1755648"/>
            <a:ext cx="41148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5669280" y="1188720"/>
            <a:ext cx="1600200" cy="146304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15000" y="1234440"/>
            <a:ext cx="15087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2. Success skills</a:t>
            </a:r>
          </a:p>
        </p:txBody>
      </p:sp>
      <p:sp>
        <p:nvSpPr>
          <p:cNvPr id="13" name="TextBox 12"/>
          <p:cNvSpPr txBox="1"/>
          <p:nvPr/>
        </p:nvSpPr>
        <p:spPr>
          <a:xfrm>
            <a:off x="5797296" y="1618488"/>
            <a:ext cx="1344168" cy="987552"/>
          </a:xfrm>
          <a:prstGeom prst="rect">
            <a:avLst/>
          </a:prstGeom>
          <a:noFill/>
        </p:spPr>
        <p:txBody>
          <a:bodyPr wrap="square">
            <a:spAutoFit/>
          </a:bodyPr>
          <a:lstStyle/>
          <a:p>
            <a:pPr algn="l"/>
            <a:r>
              <a:rPr sz="1050">
                <a:solidFill>
                  <a:srgbClr val="1F2937"/>
                </a:solidFill>
                <a:latin typeface="Aptos"/>
              </a:rPr>
              <a:t>Extract reusable patterns from high-scoring runs.</a:t>
            </a:r>
          </a:p>
        </p:txBody>
      </p:sp>
      <p:sp>
        <p:nvSpPr>
          <p:cNvPr id="14" name="Chevron 13"/>
          <p:cNvSpPr/>
          <p:nvPr/>
        </p:nvSpPr>
        <p:spPr>
          <a:xfrm>
            <a:off x="7388352" y="1755648"/>
            <a:ext cx="41148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5" name="Rounded Rectangle 14"/>
          <p:cNvSpPr/>
          <p:nvPr/>
        </p:nvSpPr>
        <p:spPr>
          <a:xfrm>
            <a:off x="7845552" y="1188720"/>
            <a:ext cx="1600200" cy="146304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91272" y="1234440"/>
            <a:ext cx="1508760"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3. Failure skills</a:t>
            </a:r>
          </a:p>
        </p:txBody>
      </p:sp>
      <p:sp>
        <p:nvSpPr>
          <p:cNvPr id="17" name="TextBox 16"/>
          <p:cNvSpPr txBox="1"/>
          <p:nvPr/>
        </p:nvSpPr>
        <p:spPr>
          <a:xfrm>
            <a:off x="7973568" y="1618488"/>
            <a:ext cx="1344168" cy="987552"/>
          </a:xfrm>
          <a:prstGeom prst="rect">
            <a:avLst/>
          </a:prstGeom>
          <a:noFill/>
        </p:spPr>
        <p:txBody>
          <a:bodyPr wrap="square">
            <a:spAutoFit/>
          </a:bodyPr>
          <a:lstStyle/>
          <a:p>
            <a:pPr algn="l"/>
            <a:r>
              <a:rPr sz="1050">
                <a:solidFill>
                  <a:srgbClr val="1F2937"/>
                </a:solidFill>
                <a:latin typeface="Aptos"/>
              </a:rPr>
              <a:t>Create defensive skills from bad runs.</a:t>
            </a:r>
          </a:p>
        </p:txBody>
      </p:sp>
      <p:sp>
        <p:nvSpPr>
          <p:cNvPr id="18" name="Chevron 17"/>
          <p:cNvSpPr/>
          <p:nvPr/>
        </p:nvSpPr>
        <p:spPr>
          <a:xfrm>
            <a:off x="9564624" y="1755648"/>
            <a:ext cx="41148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9" name="Rounded Rectangle 18"/>
          <p:cNvSpPr/>
          <p:nvPr/>
        </p:nvSpPr>
        <p:spPr>
          <a:xfrm>
            <a:off x="10021824" y="1188720"/>
            <a:ext cx="1600200" cy="1463040"/>
          </a:xfrm>
          <a:prstGeom prst="roundRect">
            <a:avLst/>
          </a:prstGeom>
          <a:solidFill>
            <a:srgbClr val="FFFF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067544" y="1234440"/>
            <a:ext cx="1508760" cy="329184"/>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4. Memory compression</a:t>
            </a:r>
          </a:p>
        </p:txBody>
      </p:sp>
      <p:sp>
        <p:nvSpPr>
          <p:cNvPr id="21" name="TextBox 20"/>
          <p:cNvSpPr txBox="1"/>
          <p:nvPr/>
        </p:nvSpPr>
        <p:spPr>
          <a:xfrm>
            <a:off x="10149840" y="1618488"/>
            <a:ext cx="1344168" cy="987552"/>
          </a:xfrm>
          <a:prstGeom prst="rect">
            <a:avLst/>
          </a:prstGeom>
          <a:noFill/>
        </p:spPr>
        <p:txBody>
          <a:bodyPr wrap="square">
            <a:spAutoFit/>
          </a:bodyPr>
          <a:lstStyle/>
          <a:p>
            <a:pPr algn="l"/>
            <a:r>
              <a:rPr sz="1050">
                <a:solidFill>
                  <a:srgbClr val="1F2937"/>
                </a:solidFill>
                <a:latin typeface="Aptos"/>
              </a:rPr>
              <a:t>Deduplicate semantic memory.</a:t>
            </a:r>
          </a:p>
        </p:txBody>
      </p:sp>
      <p:sp>
        <p:nvSpPr>
          <p:cNvPr id="22" name="Rounded Rectangle 21"/>
          <p:cNvSpPr/>
          <p:nvPr/>
        </p:nvSpPr>
        <p:spPr>
          <a:xfrm>
            <a:off x="1051560" y="3246120"/>
            <a:ext cx="10058400" cy="1965960"/>
          </a:xfrm>
          <a:prstGeom prst="roundRect">
            <a:avLst/>
          </a:prstGeom>
          <a:solidFill>
            <a:srgbClr val="FCFCFC"/>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97280" y="3291839"/>
            <a:ext cx="99669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5. Harness optimization (also gated)</a:t>
            </a:r>
          </a:p>
        </p:txBody>
      </p:sp>
      <p:sp>
        <p:nvSpPr>
          <p:cNvPr id="24" name="TextBox 23"/>
          <p:cNvSpPr txBox="1"/>
          <p:nvPr/>
        </p:nvSpPr>
        <p:spPr>
          <a:xfrm>
            <a:off x="1179576" y="3675887"/>
            <a:ext cx="9802368" cy="1490472"/>
          </a:xfrm>
          <a:prstGeom prst="rect">
            <a:avLst/>
          </a:prstGeom>
          <a:noFill/>
        </p:spPr>
        <p:txBody>
          <a:bodyPr wrap="square">
            <a:spAutoFit/>
          </a:bodyPr>
          <a:lstStyle/>
          <a:p>
            <a:pPr algn="l"/>
            <a:r>
              <a:rPr sz="1050">
                <a:solidFill>
                  <a:srgbClr val="1F2937"/>
                </a:solidFill>
                <a:latin typeface="Aptos"/>
              </a:rPr>
              <a:t>After prompt/skill/memory updates, `optimize_harness()` reads grading summaries + trace evidence, proposes changes to `HarnessConfig`, then runs `validate_candidate_harness()` against the SAME held-out task set: each task is run once with the current config and once with the candidate, with the same prompt, then pairwise compared. Only proposals that win strict majority on the holdout are saved.</a:t>
            </a:r>
          </a:p>
          <a:p>
            <a:pPr algn="l"/>
            <a:r>
              <a:rPr sz="1050">
                <a:solidFill>
                  <a:srgbClr val="1F2937"/>
                </a:solidFill>
                <a:latin typeface="Aptos"/>
              </a:rPr>
              <a:t/>
            </a:r>
          </a:p>
          <a:p>
            <a:pPr algn="l"/>
            <a:r>
              <a:rPr sz="1050">
                <a:solidFill>
                  <a:srgbClr val="1F2937"/>
                </a:solidFill>
                <a:latin typeface="Aptos"/>
              </a:rPr>
              <a:t>When the gate rejects, the optimizer returns the unchanged version number — no file is written and no phantom 'Harness upgraded' line appears in the daemon log.</a:t>
            </a:r>
          </a:p>
        </p:txBody>
      </p:sp>
      <p:sp>
        <p:nvSpPr>
          <p:cNvPr id="25" name="TextBox 24"/>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Cold-start path: `src evolve` bootstraps; the daemon handles all live improvement after that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How the Harness Gets Updated</a:t>
            </a:r>
          </a:p>
          <a:p>
            <a:r>
              <a:rPr sz="1200">
                <a:solidFill>
                  <a:srgbClr val="4C5B6A"/>
                </a:solidFill>
                <a:latin typeface="Aptos"/>
              </a:rPr>
              <a:t>This is the most explicit embodiment of the Meta-Harness idea in the project.</a:t>
            </a:r>
          </a:p>
        </p:txBody>
      </p:sp>
      <p:sp>
        <p:nvSpPr>
          <p:cNvPr id="3" name="Rounded Rectangle 2"/>
          <p:cNvSpPr/>
          <p:nvPr/>
        </p:nvSpPr>
        <p:spPr>
          <a:xfrm>
            <a:off x="594360" y="1371600"/>
            <a:ext cx="2651760" cy="150876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417320"/>
            <a:ext cx="256032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Diagnostic inputs</a:t>
            </a:r>
          </a:p>
        </p:txBody>
      </p:sp>
      <p:sp>
        <p:nvSpPr>
          <p:cNvPr id="5" name="TextBox 4"/>
          <p:cNvSpPr txBox="1"/>
          <p:nvPr/>
        </p:nvSpPr>
        <p:spPr>
          <a:xfrm>
            <a:off x="722376" y="1801368"/>
            <a:ext cx="2395728" cy="1033271"/>
          </a:xfrm>
          <a:prstGeom prst="rect">
            <a:avLst/>
          </a:prstGeom>
          <a:noFill/>
        </p:spPr>
        <p:txBody>
          <a:bodyPr wrap="square">
            <a:spAutoFit/>
          </a:bodyPr>
          <a:lstStyle/>
          <a:p>
            <a:pPr algn="l"/>
            <a:r>
              <a:rPr sz="1050">
                <a:solidFill>
                  <a:srgbClr val="1F2937"/>
                </a:solidFill>
                <a:latin typeface="Aptos"/>
              </a:rPr>
              <a:t>Run-log entries provide scores, classifications, and per-grader reasons.</a:t>
            </a:r>
          </a:p>
          <a:p>
            <a:pPr algn="l"/>
            <a:r>
              <a:rPr sz="1050">
                <a:solidFill>
                  <a:srgbClr val="1F2937"/>
                </a:solidFill>
                <a:latin typeface="Aptos"/>
              </a:rPr>
              <a:t>Trace fetcher prefers LangSmith traces, falls back to local JSON.</a:t>
            </a:r>
          </a:p>
          <a:p>
            <a:pPr algn="l"/>
            <a:r>
              <a:rPr sz="1050">
                <a:solidFill>
                  <a:srgbClr val="1F2937"/>
                </a:solidFill>
                <a:latin typeface="Aptos"/>
              </a:rPr>
              <a:t>Optimizer sees both metrics and execution details.</a:t>
            </a:r>
          </a:p>
        </p:txBody>
      </p:sp>
      <p:sp>
        <p:nvSpPr>
          <p:cNvPr id="6" name="Rounded Rectangle 5"/>
          <p:cNvSpPr/>
          <p:nvPr/>
        </p:nvSpPr>
        <p:spPr>
          <a:xfrm>
            <a:off x="3520440" y="1371600"/>
            <a:ext cx="2651760" cy="150876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66160" y="1417320"/>
            <a:ext cx="256032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LLM proposal phase</a:t>
            </a:r>
          </a:p>
        </p:txBody>
      </p:sp>
      <p:sp>
        <p:nvSpPr>
          <p:cNvPr id="8" name="TextBox 7"/>
          <p:cNvSpPr txBox="1"/>
          <p:nvPr/>
        </p:nvSpPr>
        <p:spPr>
          <a:xfrm>
            <a:off x="3648456" y="1801368"/>
            <a:ext cx="2395728" cy="1033271"/>
          </a:xfrm>
          <a:prstGeom prst="rect">
            <a:avLst/>
          </a:prstGeom>
          <a:noFill/>
        </p:spPr>
        <p:txBody>
          <a:bodyPr wrap="square">
            <a:spAutoFit/>
          </a:bodyPr>
          <a:lstStyle/>
          <a:p>
            <a:pPr algn="l"/>
            <a:r>
              <a:rPr sz="1050">
                <a:solidFill>
                  <a:srgbClr val="1F2937"/>
                </a:solidFill>
                <a:latin typeface="Aptos"/>
              </a:rPr>
              <a:t>Optimizer prompt includes current config, per-dimension failure rates, top failure reasons, trace data.</a:t>
            </a:r>
          </a:p>
          <a:p>
            <a:pPr algn="l"/>
            <a:r>
              <a:rPr sz="1050">
                <a:solidFill>
                  <a:srgbClr val="1F2937"/>
                </a:solidFill>
                <a:latin typeface="Aptos"/>
              </a:rPr>
              <a:t>LLM emits JSON changes, not free-form code edits.</a:t>
            </a:r>
          </a:p>
          <a:p>
            <a:pPr algn="l"/>
            <a:r>
              <a:rPr sz="1050">
                <a:solidFill>
                  <a:srgbClr val="1F2937"/>
                </a:solidFill>
                <a:latin typeface="Aptos"/>
              </a:rPr>
              <a:t>Most-conservative-pick across multiple candidates.</a:t>
            </a:r>
          </a:p>
        </p:txBody>
      </p:sp>
      <p:sp>
        <p:nvSpPr>
          <p:cNvPr id="9" name="Rounded Rectangle 8"/>
          <p:cNvSpPr/>
          <p:nvPr/>
        </p:nvSpPr>
        <p:spPr>
          <a:xfrm>
            <a:off x="6446520" y="1371600"/>
            <a:ext cx="2377440" cy="150876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92240" y="1417320"/>
            <a:ext cx="228600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Safety layer</a:t>
            </a:r>
          </a:p>
        </p:txBody>
      </p:sp>
      <p:sp>
        <p:nvSpPr>
          <p:cNvPr id="11" name="TextBox 10"/>
          <p:cNvSpPr txBox="1"/>
          <p:nvPr/>
        </p:nvSpPr>
        <p:spPr>
          <a:xfrm>
            <a:off x="6574536" y="1801368"/>
            <a:ext cx="2121408" cy="1033271"/>
          </a:xfrm>
          <a:prstGeom prst="rect">
            <a:avLst/>
          </a:prstGeom>
          <a:noFill/>
        </p:spPr>
        <p:txBody>
          <a:bodyPr wrap="square">
            <a:spAutoFit/>
          </a:bodyPr>
          <a:lstStyle/>
          <a:p>
            <a:pPr algn="l"/>
            <a:r>
              <a:rPr sz="1050">
                <a:solidFill>
                  <a:srgbClr val="1F2937"/>
                </a:solidFill>
                <a:latin typeface="Aptos"/>
              </a:rPr>
              <a:t>Unknown parameters ignored.</a:t>
            </a:r>
          </a:p>
          <a:p>
            <a:pPr algn="l"/>
            <a:r>
              <a:rPr sz="1050">
                <a:solidFill>
                  <a:srgbClr val="1F2937"/>
                </a:solidFill>
                <a:latin typeface="Aptos"/>
              </a:rPr>
              <a:t>Effort strings validated.</a:t>
            </a:r>
          </a:p>
          <a:p>
            <a:pPr algn="l"/>
            <a:r>
              <a:rPr sz="1050">
                <a:solidFill>
                  <a:srgbClr val="1F2937"/>
                </a:solidFill>
                <a:latin typeface="Aptos"/>
              </a:rPr>
              <a:t>Numeric values clamped to safe bounds.</a:t>
            </a:r>
          </a:p>
          <a:p>
            <a:pPr algn="l"/>
            <a:r>
              <a:rPr sz="1050">
                <a:solidFill>
                  <a:srgbClr val="1F2937"/>
                </a:solidFill>
                <a:latin typeface="Aptos"/>
              </a:rPr>
              <a:t>Invalid candidates dropped.</a:t>
            </a:r>
          </a:p>
        </p:txBody>
      </p:sp>
      <p:sp>
        <p:nvSpPr>
          <p:cNvPr id="12" name="Rounded Rectangle 11"/>
          <p:cNvSpPr/>
          <p:nvPr/>
        </p:nvSpPr>
        <p:spPr>
          <a:xfrm>
            <a:off x="9098280" y="1371600"/>
            <a:ext cx="2514600" cy="150876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0" y="1417320"/>
            <a:ext cx="2423160"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Held-out promotion gate</a:t>
            </a:r>
          </a:p>
        </p:txBody>
      </p:sp>
      <p:sp>
        <p:nvSpPr>
          <p:cNvPr id="14" name="TextBox 13"/>
          <p:cNvSpPr txBox="1"/>
          <p:nvPr/>
        </p:nvSpPr>
        <p:spPr>
          <a:xfrm>
            <a:off x="9226296" y="1801368"/>
            <a:ext cx="2258568" cy="1033271"/>
          </a:xfrm>
          <a:prstGeom prst="rect">
            <a:avLst/>
          </a:prstGeom>
          <a:noFill/>
        </p:spPr>
        <p:txBody>
          <a:bodyPr wrap="square">
            <a:spAutoFit/>
          </a:bodyPr>
          <a:lstStyle/>
          <a:p>
            <a:pPr algn="l"/>
            <a:r>
              <a:rPr sz="1050">
                <a:solidFill>
                  <a:srgbClr val="1F2937"/>
                </a:solidFill>
                <a:latin typeface="Aptos"/>
              </a:rPr>
              <a:t>`validate_candidate_harness()` runs each held-out task with BOTH old and new config (same prompt). Pairwise judge compares outputs. Strict majority required.</a:t>
            </a:r>
          </a:p>
          <a:p>
            <a:pPr algn="l"/>
            <a:r>
              <a:rPr sz="1050">
                <a:solidFill>
                  <a:srgbClr val="1F2937"/>
                </a:solidFill>
                <a:latin typeface="Aptos"/>
              </a:rPr>
              <a:t>Loser is not saved.</a:t>
            </a:r>
          </a:p>
        </p:txBody>
      </p:sp>
      <p:sp>
        <p:nvSpPr>
          <p:cNvPr id="15" name="Rounded Rectangle 14"/>
          <p:cNvSpPr/>
          <p:nvPr/>
        </p:nvSpPr>
        <p:spPr>
          <a:xfrm>
            <a:off x="868680" y="3383280"/>
            <a:ext cx="10789920" cy="196596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What can evolve</a:t>
            </a:r>
          </a:p>
          <a:p>
            <a:r>
              <a:rPr sz="1050">
                <a:solidFill>
                  <a:srgbClr val="1F2937"/>
                </a:solidFill>
                <a:latin typeface="Aptos"/>
              </a:rPr>
              <a:t>Middleware behavior:</a:t>
            </a:r>
          </a:p>
          <a:p>
            <a:r>
              <a:rPr sz="1050">
                <a:solidFill>
                  <a:srgbClr val="1F2937"/>
                </a:solidFill>
                <a:latin typeface="Aptos"/>
              </a:rPr>
              <a:t>`max_retries`, `min_length`, `verify_against_task`, `required_sections`, `completion_checks`, `max_similar`, `max_total`, `max_file_edits`, `max_repeated_tools`, `budget_seconds`, `warn_at`, `planning_effort`, `implementation_effort`, `verification_effort`, `planning_calls`, `detect_env`.</a:t>
            </a:r>
          </a:p>
          <a:p>
            <a:r>
              <a:rPr sz="1050">
                <a:solidFill>
                  <a:srgbClr val="1F2937"/>
                </a:solidFill>
                <a:latin typeface="Aptos"/>
              </a:rPr>
              <a:t/>
            </a:r>
          </a:p>
          <a:p>
            <a:r>
              <a:rPr sz="1050">
                <a:solidFill>
                  <a:srgbClr val="1F2937"/>
                </a:solidFill>
                <a:latin typeface="Aptos"/>
              </a:rPr>
              <a:t>Tool behavior:</a:t>
            </a:r>
          </a:p>
          <a:p>
            <a:r>
              <a:rPr sz="1050">
                <a:solidFill>
                  <a:srgbClr val="1F2937"/>
                </a:solidFill>
                <a:latin typeface="Aptos"/>
              </a:rPr>
              <a:t>`search_max_retries`, `search_retry_delay`, `search_max_results`, `search_depth`.</a:t>
            </a:r>
          </a:p>
          <a:p>
            <a:r>
              <a:rPr sz="1050">
                <a:solidFill>
                  <a:srgbClr val="1F2937"/>
                </a:solidFill>
                <a:latin typeface="Aptos"/>
              </a:rPr>
              <a:t/>
            </a:r>
          </a:p>
          <a:p>
            <a:r>
              <a:rPr sz="1050">
                <a:solidFill>
                  <a:srgbClr val="1F2937"/>
                </a:solidFill>
                <a:latin typeface="Aptos"/>
              </a:rPr>
              <a:t>Because the search tool is created with `harness_cfg`, tool-level behavior and harness-level behavior evolve together.</a:t>
            </a:r>
          </a:p>
        </p:txBody>
      </p:sp>
      <p:sp>
        <p:nvSpPr>
          <p:cNvPr id="16" name="TextBox 15"/>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Updated harness versions are JSON config files, so rollback and inspection stay simple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How Context Evolves Dynamically</a:t>
            </a:r>
          </a:p>
          <a:p>
            <a:r>
              <a:rPr sz="1200">
                <a:solidFill>
                  <a:srgbClr val="4C5B6A"/>
                </a:solidFill>
                <a:latin typeface="Aptos"/>
              </a:rPr>
              <a:t>The project learns in token space: prompts, skills, memories, and meta-instructions are treated as mutable context.</a:t>
            </a:r>
          </a:p>
        </p:txBody>
      </p:sp>
      <p:sp>
        <p:nvSpPr>
          <p:cNvPr id="3" name="Rounded Rectangle 2"/>
          <p:cNvSpPr/>
          <p:nvPr/>
        </p:nvSpPr>
        <p:spPr>
          <a:xfrm>
            <a:off x="502920" y="1417320"/>
            <a:ext cx="2788920" cy="173736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2697479"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Prompt evolution</a:t>
            </a:r>
          </a:p>
        </p:txBody>
      </p:sp>
      <p:sp>
        <p:nvSpPr>
          <p:cNvPr id="5" name="TextBox 4"/>
          <p:cNvSpPr txBox="1"/>
          <p:nvPr/>
        </p:nvSpPr>
        <p:spPr>
          <a:xfrm>
            <a:off x="630936" y="1847088"/>
            <a:ext cx="2532887" cy="1261872"/>
          </a:xfrm>
          <a:prstGeom prst="rect">
            <a:avLst/>
          </a:prstGeom>
          <a:noFill/>
        </p:spPr>
        <p:txBody>
          <a:bodyPr wrap="square">
            <a:spAutoFit/>
          </a:bodyPr>
          <a:lstStyle/>
          <a:p>
            <a:pPr algn="l"/>
            <a:r>
              <a:rPr sz="1050">
                <a:solidFill>
                  <a:srgbClr val="1F2937"/>
                </a:solidFill>
                <a:latin typeface="Aptos"/>
              </a:rPr>
              <a:t>Prompt versions live in `prompts/v*.json`.</a:t>
            </a:r>
          </a:p>
          <a:p>
            <a:pPr algn="l"/>
            <a:r>
              <a:rPr sz="1050">
                <a:solidFill>
                  <a:srgbClr val="1F2937"/>
                </a:solidFill>
                <a:latin typeface="Aptos"/>
              </a:rPr>
              <a:t>Each run updates the version's running observed score.</a:t>
            </a:r>
          </a:p>
          <a:p>
            <a:pPr algn="l"/>
            <a:r>
              <a:rPr sz="1050">
                <a:solidFill>
                  <a:srgbClr val="1F2937"/>
                </a:solidFill>
                <a:latin typeface="Aptos"/>
              </a:rPr>
              <a:t>Daemon adds a new version only after held-out pairwise validation passes.</a:t>
            </a:r>
          </a:p>
          <a:p>
            <a:pPr algn="l"/>
            <a:r>
              <a:rPr sz="1050">
                <a:solidFill>
                  <a:srgbClr val="1F2937"/>
                </a:solidFill>
                <a:latin typeface="Aptos"/>
              </a:rPr>
              <a:t>`get_current_prompt()` returns the LATEST promoted version (ratchet).</a:t>
            </a:r>
          </a:p>
        </p:txBody>
      </p:sp>
      <p:sp>
        <p:nvSpPr>
          <p:cNvPr id="6" name="Rounded Rectangle 5"/>
          <p:cNvSpPr/>
          <p:nvPr/>
        </p:nvSpPr>
        <p:spPr>
          <a:xfrm>
            <a:off x="3520440" y="1417320"/>
            <a:ext cx="2788920" cy="173736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66160" y="1463040"/>
            <a:ext cx="2697479"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Skill evolution</a:t>
            </a:r>
          </a:p>
        </p:txBody>
      </p:sp>
      <p:sp>
        <p:nvSpPr>
          <p:cNvPr id="8" name="TextBox 7"/>
          <p:cNvSpPr txBox="1"/>
          <p:nvPr/>
        </p:nvSpPr>
        <p:spPr>
          <a:xfrm>
            <a:off x="3648456" y="1847088"/>
            <a:ext cx="2532887" cy="1261872"/>
          </a:xfrm>
          <a:prstGeom prst="rect">
            <a:avLst/>
          </a:prstGeom>
          <a:noFill/>
        </p:spPr>
        <p:txBody>
          <a:bodyPr wrap="square">
            <a:spAutoFit/>
          </a:bodyPr>
          <a:lstStyle/>
          <a:p>
            <a:pPr algn="l"/>
            <a:r>
              <a:rPr sz="1050">
                <a:solidFill>
                  <a:srgbClr val="1F2937"/>
                </a:solidFill>
                <a:latin typeface="Aptos"/>
              </a:rPr>
              <a:t>Success runs create reusable skills.</a:t>
            </a:r>
          </a:p>
          <a:p>
            <a:pPr algn="l"/>
            <a:r>
              <a:rPr sz="1050">
                <a:solidFill>
                  <a:srgbClr val="1F2937"/>
                </a:solidFill>
                <a:latin typeface="Aptos"/>
              </a:rPr>
              <a:t>Failure runs create defensive skills.</a:t>
            </a:r>
          </a:p>
          <a:p>
            <a:pPr algn="l"/>
            <a:r>
              <a:rPr sz="1050">
                <a:solidFill>
                  <a:srgbClr val="1F2937"/>
                </a:solidFill>
                <a:latin typeface="Aptos"/>
              </a:rPr>
              <a:t>`ContextAssemblyMiddleware` discovers skills and injects the available skill catalog into the first model call.</a:t>
            </a:r>
          </a:p>
        </p:txBody>
      </p:sp>
      <p:sp>
        <p:nvSpPr>
          <p:cNvPr id="9" name="Rounded Rectangle 8"/>
          <p:cNvSpPr/>
          <p:nvPr/>
        </p:nvSpPr>
        <p:spPr>
          <a:xfrm>
            <a:off x="6537960" y="1417320"/>
            <a:ext cx="2514600" cy="173736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0" y="1463040"/>
            <a:ext cx="24231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Memory evolution</a:t>
            </a:r>
          </a:p>
        </p:txBody>
      </p:sp>
      <p:sp>
        <p:nvSpPr>
          <p:cNvPr id="11" name="TextBox 10"/>
          <p:cNvSpPr txBox="1"/>
          <p:nvPr/>
        </p:nvSpPr>
        <p:spPr>
          <a:xfrm>
            <a:off x="6665976" y="1847088"/>
            <a:ext cx="2258568" cy="1261872"/>
          </a:xfrm>
          <a:prstGeom prst="rect">
            <a:avLst/>
          </a:prstGeom>
          <a:noFill/>
        </p:spPr>
        <p:txBody>
          <a:bodyPr wrap="square">
            <a:spAutoFit/>
          </a:bodyPr>
          <a:lstStyle/>
          <a:p>
            <a:pPr algn="l"/>
            <a:r>
              <a:rPr sz="1050">
                <a:solidFill>
                  <a:srgbClr val="1F2937"/>
                </a:solidFill>
                <a:latin typeface="Aptos"/>
              </a:rPr>
              <a:t>Reflection stores episodic summaries and semantic facts/patterns.</a:t>
            </a:r>
          </a:p>
          <a:p>
            <a:pPr algn="l"/>
            <a:r>
              <a:rPr sz="1050">
                <a:solidFill>
                  <a:srgbClr val="1F2937"/>
                </a:solidFill>
                <a:latin typeface="Aptos"/>
              </a:rPr>
              <a:t>Compression prioritizes meta-instructions, then learned patterns, then recent run summaries under a token budget.</a:t>
            </a:r>
          </a:p>
        </p:txBody>
      </p:sp>
      <p:sp>
        <p:nvSpPr>
          <p:cNvPr id="12" name="Rounded Rectangle 11"/>
          <p:cNvSpPr/>
          <p:nvPr/>
        </p:nvSpPr>
        <p:spPr>
          <a:xfrm>
            <a:off x="9281160" y="1417320"/>
            <a:ext cx="2331720" cy="173736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326880" y="1463040"/>
            <a:ext cx="2240279"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Sleep-time review</a:t>
            </a:r>
          </a:p>
        </p:txBody>
      </p:sp>
      <p:sp>
        <p:nvSpPr>
          <p:cNvPr id="14" name="TextBox 13"/>
          <p:cNvSpPr txBox="1"/>
          <p:nvPr/>
        </p:nvSpPr>
        <p:spPr>
          <a:xfrm>
            <a:off x="9409176" y="1847088"/>
            <a:ext cx="2075687" cy="1261872"/>
          </a:xfrm>
          <a:prstGeom prst="rect">
            <a:avLst/>
          </a:prstGeom>
          <a:noFill/>
        </p:spPr>
        <p:txBody>
          <a:bodyPr wrap="square">
            <a:spAutoFit/>
          </a:bodyPr>
          <a:lstStyle/>
          <a:p>
            <a:pPr algn="l"/>
            <a:r>
              <a:rPr sz="1050">
                <a:solidFill>
                  <a:srgbClr val="1F2937"/>
                </a:solidFill>
                <a:latin typeface="Aptos"/>
              </a:rPr>
              <a:t>Cross-run trace analysis writes `meta_instruction` memories and can remove contradictory semantic memories.</a:t>
            </a:r>
          </a:p>
        </p:txBody>
      </p:sp>
      <p:sp>
        <p:nvSpPr>
          <p:cNvPr id="15" name="Rounded Rectangle 14"/>
          <p:cNvSpPr/>
          <p:nvPr/>
        </p:nvSpPr>
        <p:spPr>
          <a:xfrm>
            <a:off x="822960" y="3657600"/>
            <a:ext cx="10698480" cy="1691640"/>
          </a:xfrm>
          <a:prstGeom prst="roundRect">
            <a:avLst/>
          </a:prstGeom>
          <a:solidFill>
            <a:srgbClr val="FCFCFC"/>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3703320"/>
            <a:ext cx="1060704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Injection path back into the next run</a:t>
            </a:r>
          </a:p>
        </p:txBody>
      </p:sp>
      <p:sp>
        <p:nvSpPr>
          <p:cNvPr id="17" name="TextBox 16"/>
          <p:cNvSpPr txBox="1"/>
          <p:nvPr/>
        </p:nvSpPr>
        <p:spPr>
          <a:xfrm>
            <a:off x="950976" y="4087368"/>
            <a:ext cx="10442448" cy="1216152"/>
          </a:xfrm>
          <a:prstGeom prst="rect">
            <a:avLst/>
          </a:prstGeom>
          <a:noFill/>
        </p:spPr>
        <p:txBody>
          <a:bodyPr wrap="square">
            <a:spAutoFit/>
          </a:bodyPr>
          <a:lstStyle/>
          <a:p>
            <a:pPr algn="l"/>
            <a:r>
              <a:rPr sz="1050">
                <a:solidFill>
                  <a:srgbClr val="1F2937"/>
                </a:solidFill>
                <a:latin typeface="Aptos"/>
              </a:rPr>
              <a:t>1. `create_agent()` calls `compress_context(memory_store, task, token_budget)`.</a:t>
            </a:r>
          </a:p>
          <a:p>
            <a:pPr algn="l"/>
            <a:r>
              <a:rPr sz="1050">
                <a:solidFill>
                  <a:srgbClr val="1F2937"/>
                </a:solidFill>
                <a:latin typeface="Aptos"/>
              </a:rPr>
              <a:t>2. The compressed memory string is inserted into the prompt template via `{memory_context}`.</a:t>
            </a:r>
          </a:p>
          <a:p>
            <a:pPr algn="l"/>
            <a:r>
              <a:rPr sz="1050">
                <a:solidFill>
                  <a:srgbClr val="1F2937"/>
                </a:solidFill>
                <a:latin typeface="Aptos"/>
              </a:rPr>
              <a:t>3. `ContextAssemblyMiddleware.before_model()` adds environment context and available skill descriptions on the first model call.</a:t>
            </a:r>
          </a:p>
          <a:p>
            <a:pPr algn="l"/>
            <a:r>
              <a:rPr sz="1050">
                <a:solidFill>
                  <a:srgbClr val="1F2937"/>
                </a:solidFill>
                <a:latin typeface="Aptos"/>
              </a:rPr>
              <a:t>4. The result is a run-time prompt that already contains the system's latest learned strategy, facts, and reusable tactics before the model makes its first major decision.</a:t>
            </a:r>
          </a:p>
        </p:txBody>
      </p:sp>
      <p:sp>
        <p:nvSpPr>
          <p:cNvPr id="18" name="TextBox 17"/>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The model weights stay fixed; the context around the model changes continuously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Role of LangSmith Traces</a:t>
            </a:r>
          </a:p>
          <a:p>
            <a:r>
              <a:rPr sz="1200">
                <a:solidFill>
                  <a:srgbClr val="4C5B6A"/>
                </a:solidFill>
                <a:latin typeface="Aptos"/>
              </a:rPr>
              <a:t>LangSmith is used as the high-fidelity observation layer for improving the agent.</a:t>
            </a:r>
          </a:p>
        </p:txBody>
      </p:sp>
      <p:sp>
        <p:nvSpPr>
          <p:cNvPr id="3" name="Rounded Rectangle 2"/>
          <p:cNvSpPr/>
          <p:nvPr/>
        </p:nvSpPr>
        <p:spPr>
          <a:xfrm>
            <a:off x="594360" y="1371600"/>
            <a:ext cx="3474720" cy="178308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417320"/>
            <a:ext cx="3383279"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TraceFetcher behavior</a:t>
            </a:r>
          </a:p>
        </p:txBody>
      </p:sp>
      <p:sp>
        <p:nvSpPr>
          <p:cNvPr id="5" name="TextBox 4"/>
          <p:cNvSpPr txBox="1"/>
          <p:nvPr/>
        </p:nvSpPr>
        <p:spPr>
          <a:xfrm>
            <a:off x="722376" y="1801368"/>
            <a:ext cx="3218687" cy="1307592"/>
          </a:xfrm>
          <a:prstGeom prst="rect">
            <a:avLst/>
          </a:prstGeom>
          <a:noFill/>
        </p:spPr>
        <p:txBody>
          <a:bodyPr wrap="square">
            <a:spAutoFit/>
          </a:bodyPr>
          <a:lstStyle/>
          <a:p>
            <a:pPr algn="l"/>
            <a:r>
              <a:rPr sz="1050">
                <a:solidFill>
                  <a:srgbClr val="1F2937"/>
                </a:solidFill>
                <a:latin typeface="Aptos"/>
              </a:rPr>
              <a:t>Lazy-initializes a LangSmith client from project settings.</a:t>
            </a:r>
          </a:p>
          <a:p>
            <a:pPr algn="l"/>
            <a:r>
              <a:rPr sz="1050">
                <a:solidFill>
                  <a:srgbClr val="1F2937"/>
                </a:solidFill>
                <a:latin typeface="Aptos"/>
              </a:rPr>
              <a:t>Can fetch recent root runs, full descendant traces for a run, traces matching a task prefix, or batched traces for run-log entries.</a:t>
            </a:r>
          </a:p>
          <a:p>
            <a:pPr algn="l"/>
            <a:r>
              <a:rPr sz="1050">
                <a:solidFill>
                  <a:srgbClr val="1F2937"/>
                </a:solidFill>
                <a:latin typeface="Aptos"/>
              </a:rPr>
              <a:t>Falls back to local trace JSON when unavailable.</a:t>
            </a:r>
          </a:p>
        </p:txBody>
      </p:sp>
      <p:sp>
        <p:nvSpPr>
          <p:cNvPr id="6" name="Rounded Rectangle 5"/>
          <p:cNvSpPr/>
          <p:nvPr/>
        </p:nvSpPr>
        <p:spPr>
          <a:xfrm>
            <a:off x="4343400" y="1371600"/>
            <a:ext cx="3474720" cy="178308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89120" y="1417320"/>
            <a:ext cx="3383279"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Prompt optimizer use</a:t>
            </a:r>
          </a:p>
        </p:txBody>
      </p:sp>
      <p:sp>
        <p:nvSpPr>
          <p:cNvPr id="8" name="TextBox 7"/>
          <p:cNvSpPr txBox="1"/>
          <p:nvPr/>
        </p:nvSpPr>
        <p:spPr>
          <a:xfrm>
            <a:off x="4471416" y="1801368"/>
            <a:ext cx="3218687" cy="1307592"/>
          </a:xfrm>
          <a:prstGeom prst="rect">
            <a:avLst/>
          </a:prstGeom>
          <a:noFill/>
        </p:spPr>
        <p:txBody>
          <a:bodyPr wrap="square">
            <a:spAutoFit/>
          </a:bodyPr>
          <a:lstStyle/>
          <a:p>
            <a:pPr algn="l"/>
            <a:r>
              <a:rPr sz="1050">
                <a:solidFill>
                  <a:srgbClr val="1F2937"/>
                </a:solidFill>
                <a:latin typeface="Aptos"/>
              </a:rPr>
              <a:t>Failed and partial runs are paired with rich traces.</a:t>
            </a:r>
          </a:p>
          <a:p>
            <a:pPr algn="l"/>
            <a:r>
              <a:rPr sz="1050">
                <a:solidFill>
                  <a:srgbClr val="1F2937"/>
                </a:solidFill>
                <a:latin typeface="Aptos"/>
              </a:rPr>
              <a:t>Trace digests surface search queries, errors, tool-call decisions, and timing behavior.</a:t>
            </a:r>
          </a:p>
          <a:p>
            <a:pPr algn="l"/>
            <a:r>
              <a:rPr sz="1050">
                <a:solidFill>
                  <a:srgbClr val="1F2937"/>
                </a:solidFill>
                <a:latin typeface="Aptos"/>
              </a:rPr>
              <a:t>That gives the metaprompt more specific failure diagnoses than score summaries alone.</a:t>
            </a:r>
          </a:p>
        </p:txBody>
      </p:sp>
      <p:sp>
        <p:nvSpPr>
          <p:cNvPr id="9" name="Rounded Rectangle 8"/>
          <p:cNvSpPr/>
          <p:nvPr/>
        </p:nvSpPr>
        <p:spPr>
          <a:xfrm>
            <a:off x="8092440" y="1371600"/>
            <a:ext cx="3474720" cy="178308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138160" y="1417320"/>
            <a:ext cx="3383279"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Harness optimizer use</a:t>
            </a:r>
          </a:p>
        </p:txBody>
      </p:sp>
      <p:sp>
        <p:nvSpPr>
          <p:cNvPr id="11" name="TextBox 10"/>
          <p:cNvSpPr txBox="1"/>
          <p:nvPr/>
        </p:nvSpPr>
        <p:spPr>
          <a:xfrm>
            <a:off x="8220456" y="1801368"/>
            <a:ext cx="3218687" cy="1307592"/>
          </a:xfrm>
          <a:prstGeom prst="rect">
            <a:avLst/>
          </a:prstGeom>
          <a:noFill/>
        </p:spPr>
        <p:txBody>
          <a:bodyPr wrap="square">
            <a:spAutoFit/>
          </a:bodyPr>
          <a:lstStyle/>
          <a:p>
            <a:pPr algn="l"/>
            <a:r>
              <a:rPr sz="1050">
                <a:solidFill>
                  <a:srgbClr val="1F2937"/>
                </a:solidFill>
                <a:latin typeface="Aptos"/>
              </a:rPr>
              <a:t>The harness optimizer sees the current config, per-dimension failure stats, and trace evidence.</a:t>
            </a:r>
          </a:p>
          <a:p>
            <a:pPr algn="l"/>
            <a:r>
              <a:rPr sz="1050">
                <a:solidFill>
                  <a:srgbClr val="1F2937"/>
                </a:solidFill>
                <a:latin typeface="Aptos"/>
              </a:rPr>
              <a:t>This is how tool retry counts, loop thresholds, reasoning allocation, and completion checks get tuned based on actual behavior.</a:t>
            </a:r>
          </a:p>
        </p:txBody>
      </p:sp>
      <p:sp>
        <p:nvSpPr>
          <p:cNvPr id="12" name="Rounded Rectangle 11"/>
          <p:cNvSpPr/>
          <p:nvPr/>
        </p:nvSpPr>
        <p:spPr>
          <a:xfrm>
            <a:off x="960120" y="3657600"/>
            <a:ext cx="10241280" cy="16002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Why traces matter architecturally</a:t>
            </a:r>
          </a:p>
          <a:p>
            <a:r>
              <a:rPr sz="1050">
                <a:solidFill>
                  <a:srgbClr val="1F2937"/>
                </a:solidFill>
                <a:latin typeface="Aptos"/>
              </a:rPr>
              <a:t>Scores tell the system that something was wrong; traces tell it what actually happened.</a:t>
            </a:r>
          </a:p>
          <a:p>
            <a:r>
              <a:rPr sz="1050">
                <a:solidFill>
                  <a:srgbClr val="1F2937"/>
                </a:solidFill>
                <a:latin typeface="Aptos"/>
              </a:rPr>
              <a:t>The project uses LangSmith traces as the bridge from opaque outcome metrics to actionable prompt and harness updates. That is the main reason the system can do continuous improvement without retraining the model.</a:t>
            </a:r>
          </a:p>
        </p:txBody>
      </p:sp>
      <p:sp>
        <p:nvSpPr>
          <p:cNvPr id="13" name="TextBox 12"/>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If LangSmith is absent, the system degrades gracefully to local trace files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Closed-Loop Dynamic Evolution</a:t>
            </a:r>
          </a:p>
          <a:p>
            <a:r>
              <a:rPr sz="1200">
                <a:solidFill>
                  <a:srgbClr val="4C5B6A"/>
                </a:solidFill>
                <a:latin typeface="Aptos"/>
              </a:rPr>
              <a:t>The architecture is best understood as a multi-speed feedback system.</a:t>
            </a:r>
          </a:p>
        </p:txBody>
      </p:sp>
      <p:sp>
        <p:nvSpPr>
          <p:cNvPr id="3" name="Rounded Rectangle 2"/>
          <p:cNvSpPr/>
          <p:nvPr/>
        </p:nvSpPr>
        <p:spPr>
          <a:xfrm>
            <a:off x="502920" y="1417320"/>
            <a:ext cx="3520440" cy="3611880"/>
          </a:xfrm>
          <a:prstGeom prst="roundRect">
            <a:avLst/>
          </a:prstGeom>
          <a:solidFill>
            <a:srgbClr val="E9F2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342900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Fast loop: per task</a:t>
            </a:r>
          </a:p>
        </p:txBody>
      </p:sp>
      <p:sp>
        <p:nvSpPr>
          <p:cNvPr id="5" name="TextBox 4"/>
          <p:cNvSpPr txBox="1"/>
          <p:nvPr/>
        </p:nvSpPr>
        <p:spPr>
          <a:xfrm>
            <a:off x="630936" y="1847088"/>
            <a:ext cx="3264408" cy="3136392"/>
          </a:xfrm>
          <a:prstGeom prst="rect">
            <a:avLst/>
          </a:prstGeom>
          <a:noFill/>
        </p:spPr>
        <p:txBody>
          <a:bodyPr wrap="square">
            <a:spAutoFit/>
          </a:bodyPr>
          <a:lstStyle/>
          <a:p>
            <a:pPr algn="l"/>
            <a:r>
              <a:rPr sz="1050">
                <a:solidFill>
                  <a:srgbClr val="1F2937"/>
                </a:solidFill>
                <a:latin typeface="Aptos"/>
              </a:rPr>
              <a:t>Input task.</a:t>
            </a:r>
          </a:p>
          <a:p>
            <a:pPr algn="l"/>
            <a:r>
              <a:rPr sz="1050">
                <a:solidFill>
                  <a:srgbClr val="1F2937"/>
                </a:solidFill>
                <a:latin typeface="Aptos"/>
              </a:rPr>
              <a:t>Agent runs with best prompt + best harness config + current skills + compressed memory.</a:t>
            </a:r>
          </a:p>
          <a:p>
            <a:pPr algn="l"/>
            <a:r>
              <a:rPr sz="1050">
                <a:solidFill>
                  <a:srgbClr val="1F2937"/>
                </a:solidFill>
                <a:latin typeface="Aptos"/>
              </a:rPr>
              <a:t>Middleware shapes execution in real time.</a:t>
            </a:r>
          </a:p>
          <a:p>
            <a:pPr algn="l"/>
            <a:r>
              <a:rPr sz="1050">
                <a:solidFill>
                  <a:srgbClr val="1F2937"/>
                </a:solidFill>
                <a:latin typeface="Aptos"/>
              </a:rPr>
              <a:t>Grading, scoring, reflection, trace capture, and run-log append happen immediately.</a:t>
            </a:r>
          </a:p>
        </p:txBody>
      </p:sp>
      <p:sp>
        <p:nvSpPr>
          <p:cNvPr id="6" name="Rounded Rectangle 5"/>
          <p:cNvSpPr/>
          <p:nvPr/>
        </p:nvSpPr>
        <p:spPr>
          <a:xfrm>
            <a:off x="4343400" y="1417320"/>
            <a:ext cx="3520440" cy="3611880"/>
          </a:xfrm>
          <a:prstGeom prst="roundRect">
            <a:avLst/>
          </a:prstGeom>
          <a:solidFill>
            <a:srgbClr val="E2F4F1"/>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89120" y="1463040"/>
            <a:ext cx="342900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Medium loop: background daemon</a:t>
            </a:r>
          </a:p>
        </p:txBody>
      </p:sp>
      <p:sp>
        <p:nvSpPr>
          <p:cNvPr id="8" name="TextBox 7"/>
          <p:cNvSpPr txBox="1"/>
          <p:nvPr/>
        </p:nvSpPr>
        <p:spPr>
          <a:xfrm>
            <a:off x="4471416" y="1847088"/>
            <a:ext cx="3264408" cy="3136392"/>
          </a:xfrm>
          <a:prstGeom prst="rect">
            <a:avLst/>
          </a:prstGeom>
          <a:noFill/>
        </p:spPr>
        <p:txBody>
          <a:bodyPr wrap="square">
            <a:spAutoFit/>
          </a:bodyPr>
          <a:lstStyle/>
          <a:p>
            <a:pPr algn="l"/>
            <a:r>
              <a:rPr sz="1050">
                <a:solidFill>
                  <a:srgbClr val="1F2937"/>
                </a:solidFill>
                <a:latin typeface="Aptos"/>
              </a:rPr>
              <a:t>When enough fresh runs accumulate, the daemon turns evidence into updated prompt versions, new skills, compressed memory, and new harness configs.</a:t>
            </a:r>
          </a:p>
          <a:p>
            <a:pPr algn="l"/>
            <a:r>
              <a:rPr sz="1050">
                <a:solidFill>
                  <a:srgbClr val="1F2937"/>
                </a:solidFill>
                <a:latin typeface="Aptos"/>
              </a:rPr>
              <a:t>Those artifacts become part of the next serving run automatically.</a:t>
            </a:r>
          </a:p>
        </p:txBody>
      </p:sp>
      <p:sp>
        <p:nvSpPr>
          <p:cNvPr id="9" name="Rounded Rectangle 8"/>
          <p:cNvSpPr/>
          <p:nvPr/>
        </p:nvSpPr>
        <p:spPr>
          <a:xfrm>
            <a:off x="8183879" y="1417320"/>
            <a:ext cx="3520440" cy="3611880"/>
          </a:xfrm>
          <a:prstGeom prst="roundRect">
            <a:avLst/>
          </a:prstGeom>
          <a:solidFill>
            <a:srgbClr val="FFF4E2"/>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0" y="1463040"/>
            <a:ext cx="342900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Slow loop: outer loop</a:t>
            </a:r>
          </a:p>
        </p:txBody>
      </p:sp>
      <p:sp>
        <p:nvSpPr>
          <p:cNvPr id="11" name="TextBox 10"/>
          <p:cNvSpPr txBox="1"/>
          <p:nvPr/>
        </p:nvSpPr>
        <p:spPr>
          <a:xfrm>
            <a:off x="8311896" y="1847088"/>
            <a:ext cx="3264408" cy="3136392"/>
          </a:xfrm>
          <a:prstGeom prst="rect">
            <a:avLst/>
          </a:prstGeom>
          <a:noFill/>
        </p:spPr>
        <p:txBody>
          <a:bodyPr wrap="square">
            <a:spAutoFit/>
          </a:bodyPr>
          <a:lstStyle/>
          <a:p>
            <a:pPr algn="l"/>
            <a:r>
              <a:rPr sz="1050">
                <a:solidFill>
                  <a:srgbClr val="1F2937"/>
                </a:solidFill>
                <a:latin typeface="Aptos"/>
              </a:rPr>
              <a:t>When inner-loop improvements plateau, the codebase stores evolution state so a coding agent can make structural changes: new tools, different models, refactors, architecture changes.</a:t>
            </a:r>
          </a:p>
          <a:p>
            <a:pPr algn="l"/>
            <a:r>
              <a:rPr sz="1050">
                <a:solidFill>
                  <a:srgbClr val="1F2937"/>
                </a:solidFill>
                <a:latin typeface="Aptos"/>
              </a:rPr>
              <a:t>This mirrors Karpathy-style code evolution.</a:t>
            </a:r>
          </a:p>
        </p:txBody>
      </p:sp>
      <p:sp>
        <p:nvSpPr>
          <p:cNvPr id="12" name="Rounded Rectangle 11"/>
          <p:cNvSpPr/>
          <p:nvPr/>
        </p:nvSpPr>
        <p:spPr>
          <a:xfrm>
            <a:off x="1828800" y="5440680"/>
            <a:ext cx="8503920" cy="457200"/>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Net effect: the system changes the instructions, controls, and remembered knowledge around the model until the next task is solved under a better operating regime.</a:t>
            </a:r>
          </a:p>
        </p:txBody>
      </p:sp>
      <p:sp>
        <p:nvSpPr>
          <p:cNvPr id="13" name="TextBox 12"/>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This is continuous systems learning, not one-shot prompt tuning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Promotion Ratchet</a:t>
            </a:r>
          </a:p>
          <a:p>
            <a:r>
              <a:rPr sz="1200">
                <a:solidFill>
                  <a:srgbClr val="4C5B6A"/>
                </a:solidFill>
                <a:latin typeface="Aptos"/>
              </a:rPr>
              <a:t>Active versions move only forward; observed-score drift cannot silently roll the champion back.</a:t>
            </a:r>
          </a:p>
        </p:txBody>
      </p:sp>
      <p:sp>
        <p:nvSpPr>
          <p:cNvPr id="3" name="Rounded Rectangle 2"/>
          <p:cNvSpPr/>
          <p:nvPr/>
        </p:nvSpPr>
        <p:spPr>
          <a:xfrm>
            <a:off x="502920" y="1417320"/>
            <a:ext cx="3657600" cy="219456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35661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Frozen `promotion_score`</a:t>
            </a:r>
          </a:p>
        </p:txBody>
      </p:sp>
      <p:sp>
        <p:nvSpPr>
          <p:cNvPr id="5" name="TextBox 4"/>
          <p:cNvSpPr txBox="1"/>
          <p:nvPr/>
        </p:nvSpPr>
        <p:spPr>
          <a:xfrm>
            <a:off x="630936" y="1847088"/>
            <a:ext cx="3401568" cy="1719072"/>
          </a:xfrm>
          <a:prstGeom prst="rect">
            <a:avLst/>
          </a:prstGeom>
          <a:noFill/>
        </p:spPr>
        <p:txBody>
          <a:bodyPr wrap="square">
            <a:spAutoFit/>
          </a:bodyPr>
          <a:lstStyle/>
          <a:p>
            <a:pPr algn="l"/>
            <a:r>
              <a:rPr sz="1050">
                <a:solidFill>
                  <a:srgbClr val="1F2937"/>
                </a:solidFill>
                <a:latin typeface="Aptos"/>
              </a:rPr>
              <a:t>Set once at promotion time, never mutated.</a:t>
            </a:r>
          </a:p>
          <a:p>
            <a:pPr algn="l"/>
            <a:r>
              <a:rPr sz="1050">
                <a:solidFill>
                  <a:srgbClr val="1F2937"/>
                </a:solidFill>
                <a:latin typeface="Aptos"/>
              </a:rPr>
              <a:t>New champions inherit the parent's `promotion_score` so each promotion has a stable floor.</a:t>
            </a:r>
          </a:p>
          <a:p>
            <a:pPr algn="l"/>
            <a:r>
              <a:rPr sz="1050">
                <a:solidFill>
                  <a:srgbClr val="1F2937"/>
                </a:solidFill>
                <a:latin typeface="Aptos"/>
              </a:rPr>
              <a:t>Used by the optimizer for monitoring and as the baseline for the next gate.</a:t>
            </a:r>
          </a:p>
        </p:txBody>
      </p:sp>
      <p:sp>
        <p:nvSpPr>
          <p:cNvPr id="6" name="Rounded Rectangle 5"/>
          <p:cNvSpPr/>
          <p:nvPr/>
        </p:nvSpPr>
        <p:spPr>
          <a:xfrm>
            <a:off x="4297680" y="1417320"/>
            <a:ext cx="3657600" cy="219456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463040"/>
            <a:ext cx="35661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Running `score`</a:t>
            </a:r>
          </a:p>
        </p:txBody>
      </p:sp>
      <p:sp>
        <p:nvSpPr>
          <p:cNvPr id="8" name="TextBox 7"/>
          <p:cNvSpPr txBox="1"/>
          <p:nvPr/>
        </p:nvSpPr>
        <p:spPr>
          <a:xfrm>
            <a:off x="4425696" y="1847088"/>
            <a:ext cx="3401568" cy="1719072"/>
          </a:xfrm>
          <a:prstGeom prst="rect">
            <a:avLst/>
          </a:prstGeom>
          <a:noFill/>
        </p:spPr>
        <p:txBody>
          <a:bodyPr wrap="square">
            <a:spAutoFit/>
          </a:bodyPr>
          <a:lstStyle/>
          <a:p>
            <a:pPr algn="l"/>
            <a:r>
              <a:rPr sz="1050">
                <a:solidFill>
                  <a:srgbClr val="1F2937"/>
                </a:solidFill>
                <a:latin typeface="Aptos"/>
              </a:rPr>
              <a:t>Incremental average of post-promotion run scores via `update_score()`.</a:t>
            </a:r>
          </a:p>
          <a:p>
            <a:pPr algn="l"/>
            <a:r>
              <a:rPr sz="1050">
                <a:solidFill>
                  <a:srgbClr val="1F2937"/>
                </a:solidFill>
                <a:latin typeface="Aptos"/>
              </a:rPr>
              <a:t>Drifts up or down with new evidence.</a:t>
            </a:r>
          </a:p>
          <a:p>
            <a:pPr algn="l"/>
            <a:r>
              <a:rPr sz="1050">
                <a:solidFill>
                  <a:srgbClr val="1F2937"/>
                </a:solidFill>
                <a:latin typeface="Aptos"/>
              </a:rPr>
              <a:t>Serves as the optimizer's signal to ATTEMPT improvement, but does not decide which version is active.</a:t>
            </a:r>
          </a:p>
        </p:txBody>
      </p:sp>
      <p:sp>
        <p:nvSpPr>
          <p:cNvPr id="9" name="Rounded Rectangle 8"/>
          <p:cNvSpPr/>
          <p:nvPr/>
        </p:nvSpPr>
        <p:spPr>
          <a:xfrm>
            <a:off x="8092440" y="1417320"/>
            <a:ext cx="3657600" cy="219456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138160" y="1463040"/>
            <a:ext cx="35661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Active = LATEST</a:t>
            </a:r>
          </a:p>
        </p:txBody>
      </p:sp>
      <p:sp>
        <p:nvSpPr>
          <p:cNvPr id="11" name="TextBox 10"/>
          <p:cNvSpPr txBox="1"/>
          <p:nvPr/>
        </p:nvSpPr>
        <p:spPr>
          <a:xfrm>
            <a:off x="8220456" y="1847088"/>
            <a:ext cx="3401568" cy="1719072"/>
          </a:xfrm>
          <a:prstGeom prst="rect">
            <a:avLst/>
          </a:prstGeom>
          <a:noFill/>
        </p:spPr>
        <p:txBody>
          <a:bodyPr wrap="square">
            <a:spAutoFit/>
          </a:bodyPr>
          <a:lstStyle/>
          <a:p>
            <a:pPr algn="l"/>
            <a:r>
              <a:rPr sz="1050">
                <a:solidFill>
                  <a:srgbClr val="1F2937"/>
                </a:solidFill>
                <a:latin typeface="Aptos"/>
              </a:rPr>
              <a:t>`get_current_prompt()` and `load_best()` return the latest version unconditionally.</a:t>
            </a:r>
          </a:p>
          <a:p>
            <a:pPr algn="l"/>
            <a:r>
              <a:rPr sz="1050">
                <a:solidFill>
                  <a:srgbClr val="1F2937"/>
                </a:solidFill>
                <a:latin typeface="Aptos"/>
              </a:rPr>
              <a:t>Not max-scored.</a:t>
            </a:r>
          </a:p>
          <a:p>
            <a:pPr algn="l"/>
            <a:r>
              <a:rPr sz="1050">
                <a:solidFill>
                  <a:srgbClr val="1F2937"/>
                </a:solidFill>
                <a:latin typeface="Aptos"/>
              </a:rPr>
              <a:t>A promotion only happens through the held-out gate, so 'latest' is by construction the most recently validated champion.</a:t>
            </a:r>
          </a:p>
        </p:txBody>
      </p:sp>
      <p:sp>
        <p:nvSpPr>
          <p:cNvPr id="12" name="Rounded Rectangle 11"/>
          <p:cNvSpPr/>
          <p:nvPr/>
        </p:nvSpPr>
        <p:spPr>
          <a:xfrm>
            <a:off x="777240" y="3794760"/>
            <a:ext cx="10972800" cy="1554480"/>
          </a:xfrm>
          <a:prstGeom prst="roundRect">
            <a:avLst/>
          </a:prstGeom>
          <a:solidFill>
            <a:srgbClr val="FCFCFC"/>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840480"/>
            <a:ext cx="108813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What this prevents</a:t>
            </a:r>
          </a:p>
        </p:txBody>
      </p:sp>
      <p:sp>
        <p:nvSpPr>
          <p:cNvPr id="14" name="TextBox 13"/>
          <p:cNvSpPr txBox="1"/>
          <p:nvPr/>
        </p:nvSpPr>
        <p:spPr>
          <a:xfrm>
            <a:off x="905256" y="4224528"/>
            <a:ext cx="10716768" cy="1078992"/>
          </a:xfrm>
          <a:prstGeom prst="rect">
            <a:avLst/>
          </a:prstGeom>
          <a:noFill/>
        </p:spPr>
        <p:txBody>
          <a:bodyPr wrap="square">
            <a:spAutoFit/>
          </a:bodyPr>
          <a:lstStyle/>
          <a:p>
            <a:pPr algn="l"/>
            <a:r>
              <a:rPr sz="1050">
                <a:solidFill>
                  <a:srgbClr val="1F2937"/>
                </a:solidFill>
                <a:latin typeface="Aptos"/>
              </a:rPr>
              <a:t>Before the ratchet, a string of unlucky or buggy runs (e.g. the recent `extract_output` regression where phantom self-check strings were graded as the agent's output) would drag the champion's running score below an older version's, and `max(score)` selection would silently activate the older version. The active prompt could change without any optimizer involvement.</a:t>
            </a:r>
          </a:p>
          <a:p>
            <a:pPr algn="l"/>
            <a:r>
              <a:rPr sz="1050">
                <a:solidFill>
                  <a:srgbClr val="1F2937"/>
                </a:solidFill>
                <a:latin typeface="Aptos"/>
              </a:rPr>
              <a:t/>
            </a:r>
          </a:p>
          <a:p>
            <a:pPr algn="l"/>
            <a:r>
              <a:rPr sz="1050">
                <a:solidFill>
                  <a:srgbClr val="1F2937"/>
                </a:solidFill>
                <a:latin typeface="Aptos"/>
              </a:rPr>
              <a:t>With the ratchet, observed scores can swing freely but the active version only moves forward through an explicit, gated promotion. The system self-corrects through the front door (more optimization) instead of through the back door (silent rollback).</a:t>
            </a:r>
          </a:p>
        </p:txBody>
      </p:sp>
      <p:sp>
        <p:nvSpPr>
          <p:cNvPr id="15" name="Rounded Rectangle 14"/>
          <p:cNvSpPr/>
          <p:nvPr/>
        </p:nvSpPr>
        <p:spPr>
          <a:xfrm>
            <a:off x="3200400" y="5623560"/>
            <a:ext cx="5760720" cy="411480"/>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Karpathy ratchet: separate observation from commitment</a:t>
            </a:r>
          </a:p>
        </p:txBody>
      </p:sp>
      <p:sp>
        <p:nvSpPr>
          <p:cNvPr id="16" name="TextBox 15"/>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Implementation: `src/agent/prompt_store.py`, `src/evolution/harness_config.py`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Held-out Promotion Gates</a:t>
            </a:r>
          </a:p>
          <a:p>
            <a:r>
              <a:rPr sz="1200">
                <a:solidFill>
                  <a:srgbClr val="4C5B6A"/>
                </a:solidFill>
                <a:latin typeface="Aptos"/>
              </a:rPr>
              <a:t>Both prompt and harness optimizers must beat the champion on a stable held-out task set.</a:t>
            </a:r>
          </a:p>
        </p:txBody>
      </p:sp>
      <p:sp>
        <p:nvSpPr>
          <p:cNvPr id="3" name="Rounded Rectangle 2"/>
          <p:cNvSpPr/>
          <p:nvPr/>
        </p:nvSpPr>
        <p:spPr>
          <a:xfrm>
            <a:off x="502920" y="1371600"/>
            <a:ext cx="3657600" cy="228600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35661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Held-out source</a:t>
            </a:r>
          </a:p>
        </p:txBody>
      </p:sp>
      <p:sp>
        <p:nvSpPr>
          <p:cNvPr id="5" name="TextBox 4"/>
          <p:cNvSpPr txBox="1"/>
          <p:nvPr/>
        </p:nvSpPr>
        <p:spPr>
          <a:xfrm>
            <a:off x="630936" y="1801368"/>
            <a:ext cx="3401568" cy="1810512"/>
          </a:xfrm>
          <a:prstGeom prst="rect">
            <a:avLst/>
          </a:prstGeom>
          <a:noFill/>
        </p:spPr>
        <p:txBody>
          <a:bodyPr wrap="square">
            <a:spAutoFit/>
          </a:bodyPr>
          <a:lstStyle/>
          <a:p>
            <a:pPr algn="l"/>
            <a:r>
              <a:rPr sz="1050">
                <a:solidFill>
                  <a:srgbClr val="1F2937"/>
                </a:solidFill>
                <a:latin typeface="Aptos"/>
              </a:rPr>
              <a:t>`tasks/research_tasks.json` is split via `_split_tasks` (random.Random(42), HOLDOUT_FRACTION=0.3).</a:t>
            </a:r>
          </a:p>
          <a:p>
            <a:pPr algn="l"/>
            <a:r>
              <a:rPr sz="1050">
                <a:solidFill>
                  <a:srgbClr val="1F2937"/>
                </a:solidFill>
                <a:latin typeface="Aptos"/>
              </a:rPr>
              <a:t>The holdout slice is stable across cycles, so trends are comparable and the optimizer never validates on its own training input.</a:t>
            </a:r>
          </a:p>
          <a:p>
            <a:pPr algn="l"/>
            <a:r>
              <a:rPr sz="1050">
                <a:solidFill>
                  <a:srgbClr val="1F2937"/>
                </a:solidFill>
                <a:latin typeface="Aptos"/>
              </a:rPr>
              <a:t>`_load_holdout_tasks()` reads it once per cycle in the daemon.</a:t>
            </a:r>
          </a:p>
        </p:txBody>
      </p:sp>
      <p:sp>
        <p:nvSpPr>
          <p:cNvPr id="6" name="Rounded Rectangle 5"/>
          <p:cNvSpPr/>
          <p:nvPr/>
        </p:nvSpPr>
        <p:spPr>
          <a:xfrm>
            <a:off x="4297680" y="1371600"/>
            <a:ext cx="3657600" cy="228600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417320"/>
            <a:ext cx="35661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Apples-to-apples pairwise</a:t>
            </a:r>
          </a:p>
        </p:txBody>
      </p:sp>
      <p:sp>
        <p:nvSpPr>
          <p:cNvPr id="8" name="TextBox 7"/>
          <p:cNvSpPr txBox="1"/>
          <p:nvPr/>
        </p:nvSpPr>
        <p:spPr>
          <a:xfrm>
            <a:off x="4425696" y="1801368"/>
            <a:ext cx="3401568" cy="1810512"/>
          </a:xfrm>
          <a:prstGeom prst="rect">
            <a:avLst/>
          </a:prstGeom>
          <a:noFill/>
        </p:spPr>
        <p:txBody>
          <a:bodyPr wrap="square">
            <a:spAutoFit/>
          </a:bodyPr>
          <a:lstStyle/>
          <a:p>
            <a:pPr algn="l"/>
            <a:r>
              <a:rPr sz="1050">
                <a:solidFill>
                  <a:srgbClr val="1F2937"/>
                </a:solidFill>
                <a:latin typeface="Aptos"/>
              </a:rPr>
              <a:t>For each held-out task: run the CURRENT champion and the CANDIDATE fresh, in the same cycle, with the same harness state (or same prompt for the harness gate).</a:t>
            </a:r>
          </a:p>
          <a:p>
            <a:pPr algn="l"/>
            <a:r>
              <a:rPr sz="1050">
                <a:solidFill>
                  <a:srgbClr val="1F2937"/>
                </a:solidFill>
                <a:latin typeface="Aptos"/>
              </a:rPr>
              <a:t>A pairwise LLM judge picks the better output. Position is randomized to defeat slot bias.</a:t>
            </a:r>
          </a:p>
          <a:p>
            <a:pPr algn="l"/>
            <a:r>
              <a:rPr sz="1050">
                <a:solidFill>
                  <a:srgbClr val="1F2937"/>
                </a:solidFill>
                <a:latin typeface="Aptos"/>
              </a:rPr>
              <a:t>Strict majority required: `wins_new &gt; wins_old`.</a:t>
            </a:r>
          </a:p>
        </p:txBody>
      </p:sp>
      <p:sp>
        <p:nvSpPr>
          <p:cNvPr id="9" name="Rounded Rectangle 8"/>
          <p:cNvSpPr/>
          <p:nvPr/>
        </p:nvSpPr>
        <p:spPr>
          <a:xfrm>
            <a:off x="8092440" y="1371600"/>
            <a:ext cx="3657600" cy="228600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138160" y="1417320"/>
            <a:ext cx="35661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Defensive errors + log tags</a:t>
            </a:r>
          </a:p>
        </p:txBody>
      </p:sp>
      <p:sp>
        <p:nvSpPr>
          <p:cNvPr id="11" name="TextBox 10"/>
          <p:cNvSpPr txBox="1"/>
          <p:nvPr/>
        </p:nvSpPr>
        <p:spPr>
          <a:xfrm>
            <a:off x="8220456" y="1801368"/>
            <a:ext cx="3401568" cy="1810512"/>
          </a:xfrm>
          <a:prstGeom prst="rect">
            <a:avLst/>
          </a:prstGeom>
          <a:noFill/>
        </p:spPr>
        <p:txBody>
          <a:bodyPr wrap="square">
            <a:spAutoFit/>
          </a:bodyPr>
          <a:lstStyle/>
          <a:p>
            <a:pPr algn="l"/>
            <a:r>
              <a:rPr sz="1050">
                <a:solidFill>
                  <a:srgbClr val="1F2937"/>
                </a:solidFill>
                <a:latin typeface="Aptos"/>
              </a:rPr>
              <a:t>Run errors on either side count as a loss for the candidate — the system never promotes a config or prompt that crashes the agent.</a:t>
            </a:r>
          </a:p>
          <a:p>
            <a:pPr algn="l"/>
            <a:r>
              <a:rPr sz="1050">
                <a:solidFill>
                  <a:srgbClr val="1F2937"/>
                </a:solidFill>
                <a:latin typeface="Aptos"/>
              </a:rPr>
              <a:t>Log tags `[holdout]` (prompt) and `[harness-holdout]` (harness) make the active gate visible at a glance; `[batch-fallback]` flags the legacy overfit-prone path.</a:t>
            </a:r>
          </a:p>
        </p:txBody>
      </p:sp>
      <p:sp>
        <p:nvSpPr>
          <p:cNvPr id="12" name="Rounded Rectangle 11"/>
          <p:cNvSpPr/>
          <p:nvPr/>
        </p:nvSpPr>
        <p:spPr>
          <a:xfrm>
            <a:off x="777240" y="3840480"/>
            <a:ext cx="10972800" cy="1554480"/>
          </a:xfrm>
          <a:prstGeom prst="roundRect">
            <a:avLst/>
          </a:prstGeom>
          <a:solidFill>
            <a:srgbClr val="FCFCFC"/>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886200"/>
            <a:ext cx="108813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What the gate catches</a:t>
            </a:r>
          </a:p>
        </p:txBody>
      </p:sp>
      <p:sp>
        <p:nvSpPr>
          <p:cNvPr id="14" name="TextBox 13"/>
          <p:cNvSpPr txBox="1"/>
          <p:nvPr/>
        </p:nvSpPr>
        <p:spPr>
          <a:xfrm>
            <a:off x="905256" y="4270248"/>
            <a:ext cx="10716768" cy="1078992"/>
          </a:xfrm>
          <a:prstGeom prst="rect">
            <a:avLst/>
          </a:prstGeom>
          <a:noFill/>
        </p:spPr>
        <p:txBody>
          <a:bodyPr wrap="square">
            <a:spAutoFit/>
          </a:bodyPr>
          <a:lstStyle/>
          <a:p>
            <a:pPr algn="l"/>
            <a:r>
              <a:rPr sz="1050">
                <a:solidFill>
                  <a:srgbClr val="1F2937"/>
                </a:solidFill>
                <a:latin typeface="Aptos"/>
              </a:rPr>
              <a:t>The recent harness v2 incident is the canonical example. The optimizer hallucinated that 'broad/low-confidence research outputs' needed `min_length` loosened — but the failures were actually phantom SELF-CHECK strings from a separate `extract_output` bug. Without a gate, the optimizer's reasoning was self-validating: it saw bad outputs, proposed a fix, and the fix was promoted blindly. With the held-out gate, that same proposal would have to actually win pairwise on the holdout. It would not, because the change does not address the real failure mode.</a:t>
            </a:r>
          </a:p>
          <a:p>
            <a:pPr algn="l"/>
            <a:r>
              <a:rPr sz="1050">
                <a:solidFill>
                  <a:srgbClr val="1F2937"/>
                </a:solidFill>
                <a:latin typeface="Aptos"/>
              </a:rPr>
              <a:t/>
            </a:r>
          </a:p>
          <a:p>
            <a:pPr algn="l"/>
            <a:r>
              <a:rPr sz="1050">
                <a:solidFill>
                  <a:srgbClr val="1F2937"/>
                </a:solidFill>
                <a:latin typeface="Aptos"/>
              </a:rPr>
              <a:t>The gate makes the optimizer pay the cost of being right.</a:t>
            </a:r>
          </a:p>
        </p:txBody>
      </p:sp>
      <p:sp>
        <p:nvSpPr>
          <p:cNvPr id="15" name="Rounded Rectangle 14"/>
          <p:cNvSpPr/>
          <p:nvPr/>
        </p:nvSpPr>
        <p:spPr>
          <a:xfrm>
            <a:off x="3200400" y="5669280"/>
            <a:ext cx="5760720" cy="411480"/>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Promotion is now genuinely monotonic</a:t>
            </a:r>
          </a:p>
        </p:txBody>
      </p:sp>
      <p:sp>
        <p:nvSpPr>
          <p:cNvPr id="16" name="TextBox 15"/>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Implementation: `src/evolution/prompt_optimizer.py::_validate_on_holdout`, `harness_optimizer.py::validate_candidate_harness`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Key Files to Read</a:t>
            </a:r>
          </a:p>
          <a:p>
            <a:r>
              <a:rPr sz="1200">
                <a:solidFill>
                  <a:srgbClr val="4C5B6A"/>
                </a:solidFill>
                <a:latin typeface="Aptos"/>
              </a:rPr>
              <a:t>These are the implementation anchors behind the architecture.</a:t>
            </a:r>
          </a:p>
        </p:txBody>
      </p:sp>
      <p:sp>
        <p:nvSpPr>
          <p:cNvPr id="3" name="Rounded Rectangle 2"/>
          <p:cNvSpPr/>
          <p:nvPr/>
        </p:nvSpPr>
        <p:spPr>
          <a:xfrm>
            <a:off x="594360" y="1325880"/>
            <a:ext cx="3657600" cy="438912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371600"/>
            <a:ext cx="35661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Reusable framework (`evoagent/`)</a:t>
            </a:r>
          </a:p>
        </p:txBody>
      </p:sp>
      <p:sp>
        <p:nvSpPr>
          <p:cNvPr id="5" name="TextBox 4"/>
          <p:cNvSpPr txBox="1"/>
          <p:nvPr/>
        </p:nvSpPr>
        <p:spPr>
          <a:xfrm>
            <a:off x="722376" y="1755648"/>
            <a:ext cx="3401568" cy="3913631"/>
          </a:xfrm>
          <a:prstGeom prst="rect">
            <a:avLst/>
          </a:prstGeom>
          <a:noFill/>
        </p:spPr>
        <p:txBody>
          <a:bodyPr wrap="square">
            <a:spAutoFit/>
          </a:bodyPr>
          <a:lstStyle/>
          <a:p>
            <a:pPr algn="l"/>
            <a:r>
              <a:rPr sz="1050">
                <a:solidFill>
                  <a:srgbClr val="1F2937"/>
                </a:solidFill>
                <a:latin typeface="Aptos"/>
              </a:rPr>
              <a:t>`evoagent/core/protocols.py`</a:t>
            </a:r>
          </a:p>
          <a:p>
            <a:pPr algn="l"/>
            <a:r>
              <a:rPr sz="1050">
                <a:solidFill>
                  <a:srgbClr val="1F2937"/>
                </a:solidFill>
                <a:latin typeface="Aptos"/>
              </a:rPr>
              <a:t>Contracts for pluggability.</a:t>
            </a:r>
          </a:p>
          <a:p>
            <a:pPr algn="l"/>
            <a:r>
              <a:rPr sz="1050">
                <a:solidFill>
                  <a:srgbClr val="1F2937"/>
                </a:solidFill>
                <a:latin typeface="Aptos"/>
              </a:rPr>
              <a:t/>
            </a:r>
          </a:p>
          <a:p>
            <a:pPr algn="l"/>
            <a:r>
              <a:rPr sz="1050">
                <a:solidFill>
                  <a:srgbClr val="1F2937"/>
                </a:solidFill>
                <a:latin typeface="Aptos"/>
              </a:rPr>
              <a:t>`evoagent/harness/builder.py`</a:t>
            </a:r>
          </a:p>
          <a:p>
            <a:pPr algn="l"/>
            <a:r>
              <a:rPr sz="1050">
                <a:solidFill>
                  <a:srgbClr val="1F2937"/>
                </a:solidFill>
                <a:latin typeface="Aptos"/>
              </a:rPr>
              <a:t>Default middleware assembly.</a:t>
            </a:r>
          </a:p>
          <a:p>
            <a:pPr algn="l"/>
            <a:r>
              <a:rPr sz="1050">
                <a:solidFill>
                  <a:srgbClr val="1F2937"/>
                </a:solidFill>
                <a:latin typeface="Aptos"/>
              </a:rPr>
              <a:t/>
            </a:r>
          </a:p>
          <a:p>
            <a:pPr algn="l"/>
            <a:r>
              <a:rPr sz="1050">
                <a:solidFill>
                  <a:srgbClr val="1F2937"/>
                </a:solidFill>
                <a:latin typeface="Aptos"/>
              </a:rPr>
              <a:t>`evoagent/harness/middleware.py`</a:t>
            </a:r>
          </a:p>
          <a:p>
            <a:pPr algn="l"/>
            <a:r>
              <a:rPr sz="1050">
                <a:solidFill>
                  <a:srgbClr val="1F2937"/>
                </a:solidFill>
                <a:latin typeface="Aptos"/>
              </a:rPr>
              <a:t>Actual runtime controls.</a:t>
            </a:r>
          </a:p>
          <a:p>
            <a:pPr algn="l"/>
            <a:r>
              <a:rPr sz="1050">
                <a:solidFill>
                  <a:srgbClr val="1F2937"/>
                </a:solidFill>
                <a:latin typeface="Aptos"/>
              </a:rPr>
              <a:t/>
            </a:r>
          </a:p>
          <a:p>
            <a:pPr algn="l"/>
            <a:r>
              <a:rPr sz="1050">
                <a:solidFill>
                  <a:srgbClr val="1F2937"/>
                </a:solidFill>
                <a:latin typeface="Aptos"/>
              </a:rPr>
              <a:t>`evoagent/memory/store.py`</a:t>
            </a:r>
          </a:p>
          <a:p>
            <a:pPr algn="l"/>
            <a:r>
              <a:rPr sz="1050">
                <a:solidFill>
                  <a:srgbClr val="1F2937"/>
                </a:solidFill>
                <a:latin typeface="Aptos"/>
              </a:rPr>
              <a:t>Persistent episodic and semantic memory.</a:t>
            </a:r>
          </a:p>
          <a:p>
            <a:pPr algn="l"/>
            <a:r>
              <a:rPr sz="1050">
                <a:solidFill>
                  <a:srgbClr val="1F2937"/>
                </a:solidFill>
                <a:latin typeface="Aptos"/>
              </a:rPr>
              <a:t/>
            </a:r>
          </a:p>
          <a:p>
            <a:pPr algn="l"/>
            <a:r>
              <a:rPr sz="1050">
                <a:solidFill>
                  <a:srgbClr val="1F2937"/>
                </a:solidFill>
                <a:latin typeface="Aptos"/>
              </a:rPr>
              <a:t>`evoagent/memory/compression.py`</a:t>
            </a:r>
          </a:p>
          <a:p>
            <a:pPr algn="l"/>
            <a:r>
              <a:rPr sz="1050">
                <a:solidFill>
                  <a:srgbClr val="1F2937"/>
                </a:solidFill>
                <a:latin typeface="Aptos"/>
              </a:rPr>
              <a:t>Context assembly and dedup.</a:t>
            </a:r>
          </a:p>
          <a:p>
            <a:pPr algn="l"/>
            <a:r>
              <a:rPr sz="1050">
                <a:solidFill>
                  <a:srgbClr val="1F2937"/>
                </a:solidFill>
                <a:latin typeface="Aptos"/>
              </a:rPr>
              <a:t/>
            </a:r>
          </a:p>
          <a:p>
            <a:pPr algn="l"/>
            <a:r>
              <a:rPr sz="1050">
                <a:solidFill>
                  <a:srgbClr val="1F2937"/>
                </a:solidFill>
                <a:latin typeface="Aptos"/>
              </a:rPr>
              <a:t>`evoagent/skills/extractor.py`</a:t>
            </a:r>
          </a:p>
          <a:p>
            <a:pPr algn="l"/>
            <a:r>
              <a:rPr sz="1050">
                <a:solidFill>
                  <a:srgbClr val="1F2937"/>
                </a:solidFill>
                <a:latin typeface="Aptos"/>
              </a:rPr>
              <a:t>Success and failure skill learning.</a:t>
            </a:r>
          </a:p>
          <a:p>
            <a:pPr algn="l"/>
            <a:r>
              <a:rPr sz="1050">
                <a:solidFill>
                  <a:srgbClr val="1F2937"/>
                </a:solidFill>
                <a:latin typeface="Aptos"/>
              </a:rPr>
              <a:t/>
            </a:r>
          </a:p>
          <a:p>
            <a:pPr algn="l"/>
            <a:r>
              <a:rPr sz="1050">
                <a:solidFill>
                  <a:srgbClr val="1F2937"/>
                </a:solidFill>
                <a:latin typeface="Aptos"/>
              </a:rPr>
              <a:t>`evoagent/evolution/sleep_review.py`</a:t>
            </a:r>
          </a:p>
          <a:p>
            <a:pPr algn="l"/>
            <a:r>
              <a:rPr sz="1050">
                <a:solidFill>
                  <a:srgbClr val="1F2937"/>
                </a:solidFill>
                <a:latin typeface="Aptos"/>
              </a:rPr>
              <a:t>Offline meta-instruction learning.</a:t>
            </a:r>
          </a:p>
        </p:txBody>
      </p:sp>
      <p:sp>
        <p:nvSpPr>
          <p:cNvPr id="6" name="Rounded Rectangle 5"/>
          <p:cNvSpPr/>
          <p:nvPr/>
        </p:nvSpPr>
        <p:spPr>
          <a:xfrm>
            <a:off x="4480560" y="1325880"/>
            <a:ext cx="3657600" cy="438912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26280" y="1371600"/>
            <a:ext cx="35661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Application wiring (`src/`)</a:t>
            </a:r>
          </a:p>
        </p:txBody>
      </p:sp>
      <p:sp>
        <p:nvSpPr>
          <p:cNvPr id="8" name="TextBox 7"/>
          <p:cNvSpPr txBox="1"/>
          <p:nvPr/>
        </p:nvSpPr>
        <p:spPr>
          <a:xfrm>
            <a:off x="4608576" y="1755648"/>
            <a:ext cx="3401568" cy="3913631"/>
          </a:xfrm>
          <a:prstGeom prst="rect">
            <a:avLst/>
          </a:prstGeom>
          <a:noFill/>
        </p:spPr>
        <p:txBody>
          <a:bodyPr wrap="square">
            <a:spAutoFit/>
          </a:bodyPr>
          <a:lstStyle/>
          <a:p>
            <a:pPr algn="l"/>
            <a:r>
              <a:rPr sz="1050">
                <a:solidFill>
                  <a:srgbClr val="1F2937"/>
                </a:solidFill>
                <a:latin typeface="Aptos"/>
              </a:rPr>
              <a:t>`src/agent/deep_agent.py`</a:t>
            </a:r>
          </a:p>
          <a:p>
            <a:pPr algn="l"/>
            <a:r>
              <a:rPr sz="1050">
                <a:solidFill>
                  <a:srgbClr val="1F2937"/>
                </a:solidFill>
                <a:latin typeface="Aptos"/>
              </a:rPr>
              <a:t>Builds the actual research agent from learned artifacts.</a:t>
            </a:r>
          </a:p>
          <a:p>
            <a:pPr algn="l"/>
            <a:r>
              <a:rPr sz="1050">
                <a:solidFill>
                  <a:srgbClr val="1F2937"/>
                </a:solidFill>
                <a:latin typeface="Aptos"/>
              </a:rPr>
              <a:t/>
            </a:r>
          </a:p>
          <a:p>
            <a:pPr algn="l"/>
            <a:r>
              <a:rPr sz="1050">
                <a:solidFill>
                  <a:srgbClr val="1F2937"/>
                </a:solidFill>
                <a:latin typeface="Aptos"/>
              </a:rPr>
              <a:t>`src/cli/commands.py`</a:t>
            </a:r>
          </a:p>
          <a:p>
            <a:pPr algn="l"/>
            <a:r>
              <a:rPr sz="1050">
                <a:solidFill>
                  <a:srgbClr val="1F2937"/>
                </a:solidFill>
                <a:latin typeface="Aptos"/>
              </a:rPr>
              <a:t>Single-run execution, grading, reflection, and run logging.</a:t>
            </a:r>
          </a:p>
          <a:p>
            <a:pPr algn="l"/>
            <a:r>
              <a:rPr sz="1050">
                <a:solidFill>
                  <a:srgbClr val="1F2937"/>
                </a:solidFill>
                <a:latin typeface="Aptos"/>
              </a:rPr>
              <a:t/>
            </a:r>
          </a:p>
          <a:p>
            <a:pPr algn="l"/>
            <a:r>
              <a:rPr sz="1050">
                <a:solidFill>
                  <a:srgbClr val="1F2937"/>
                </a:solidFill>
                <a:latin typeface="Aptos"/>
              </a:rPr>
              <a:t>`src/evolution/daemon.py`</a:t>
            </a:r>
          </a:p>
          <a:p>
            <a:pPr algn="l"/>
            <a:r>
              <a:rPr sz="1050">
                <a:solidFill>
                  <a:srgbClr val="1F2937"/>
                </a:solidFill>
                <a:latin typeface="Aptos"/>
              </a:rPr>
              <a:t>Continuous optimizer.</a:t>
            </a:r>
          </a:p>
          <a:p>
            <a:pPr algn="l"/>
            <a:r>
              <a:rPr sz="1050">
                <a:solidFill>
                  <a:srgbClr val="1F2937"/>
                </a:solidFill>
                <a:latin typeface="Aptos"/>
              </a:rPr>
              <a:t/>
            </a:r>
          </a:p>
          <a:p>
            <a:pPr algn="l"/>
            <a:r>
              <a:rPr sz="1050">
                <a:solidFill>
                  <a:srgbClr val="1F2937"/>
                </a:solidFill>
                <a:latin typeface="Aptos"/>
              </a:rPr>
              <a:t>`src/evolution/harness_optimizer.py`</a:t>
            </a:r>
          </a:p>
          <a:p>
            <a:pPr algn="l"/>
            <a:r>
              <a:rPr sz="1050">
                <a:solidFill>
                  <a:srgbClr val="1F2937"/>
                </a:solidFill>
                <a:latin typeface="Aptos"/>
              </a:rPr>
              <a:t>Safe config proposals from traces.</a:t>
            </a:r>
          </a:p>
          <a:p>
            <a:pPr algn="l"/>
            <a:r>
              <a:rPr sz="1050">
                <a:solidFill>
                  <a:srgbClr val="1F2937"/>
                </a:solidFill>
                <a:latin typeface="Aptos"/>
              </a:rPr>
              <a:t/>
            </a:r>
          </a:p>
          <a:p>
            <a:pPr algn="l"/>
            <a:r>
              <a:rPr sz="1050">
                <a:solidFill>
                  <a:srgbClr val="1F2937"/>
                </a:solidFill>
                <a:latin typeface="Aptos"/>
              </a:rPr>
              <a:t>`src/evolution/prompt_optimizer.py`</a:t>
            </a:r>
          </a:p>
          <a:p>
            <a:pPr algn="l"/>
            <a:r>
              <a:rPr sz="1050">
                <a:solidFill>
                  <a:srgbClr val="1F2937"/>
                </a:solidFill>
                <a:latin typeface="Aptos"/>
              </a:rPr>
              <a:t>Prompt revision from failure analysis.</a:t>
            </a:r>
          </a:p>
          <a:p>
            <a:pPr algn="l"/>
            <a:r>
              <a:rPr sz="1050">
                <a:solidFill>
                  <a:srgbClr val="1F2937"/>
                </a:solidFill>
                <a:latin typeface="Aptos"/>
              </a:rPr>
              <a:t/>
            </a:r>
          </a:p>
          <a:p>
            <a:pPr algn="l"/>
            <a:r>
              <a:rPr sz="1050">
                <a:solidFill>
                  <a:srgbClr val="1F2937"/>
                </a:solidFill>
                <a:latin typeface="Aptos"/>
              </a:rPr>
              <a:t>`src/tracing/fetcher.py`</a:t>
            </a:r>
          </a:p>
          <a:p>
            <a:pPr algn="l"/>
            <a:r>
              <a:rPr sz="1050">
                <a:solidFill>
                  <a:srgbClr val="1F2937"/>
                </a:solidFill>
                <a:latin typeface="Aptos"/>
              </a:rPr>
              <a:t>LangSmith integration.</a:t>
            </a:r>
          </a:p>
        </p:txBody>
      </p:sp>
      <p:sp>
        <p:nvSpPr>
          <p:cNvPr id="9" name="Rounded Rectangle 8"/>
          <p:cNvSpPr/>
          <p:nvPr/>
        </p:nvSpPr>
        <p:spPr>
          <a:xfrm>
            <a:off x="8366760" y="1325880"/>
            <a:ext cx="3154680" cy="438912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412480" y="1371600"/>
            <a:ext cx="306324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State directories</a:t>
            </a:r>
          </a:p>
        </p:txBody>
      </p:sp>
      <p:sp>
        <p:nvSpPr>
          <p:cNvPr id="11" name="TextBox 10"/>
          <p:cNvSpPr txBox="1"/>
          <p:nvPr/>
        </p:nvSpPr>
        <p:spPr>
          <a:xfrm>
            <a:off x="8494776" y="1755648"/>
            <a:ext cx="2898648" cy="3913631"/>
          </a:xfrm>
          <a:prstGeom prst="rect">
            <a:avLst/>
          </a:prstGeom>
          <a:noFill/>
        </p:spPr>
        <p:txBody>
          <a:bodyPr wrap="square">
            <a:spAutoFit/>
          </a:bodyPr>
          <a:lstStyle/>
          <a:p>
            <a:pPr algn="l"/>
            <a:r>
              <a:rPr sz="1050">
                <a:solidFill>
                  <a:srgbClr val="1F2937"/>
                </a:solidFill>
                <a:latin typeface="Aptos"/>
              </a:rPr>
              <a:t>`prompts/`</a:t>
            </a:r>
          </a:p>
          <a:p>
            <a:pPr algn="l"/>
            <a:r>
              <a:rPr sz="1050">
                <a:solidFill>
                  <a:srgbClr val="1F2937"/>
                </a:solidFill>
                <a:latin typeface="Aptos"/>
              </a:rPr>
              <a:t>Versioned prompt JSON.</a:t>
            </a:r>
          </a:p>
          <a:p>
            <a:pPr algn="l"/>
            <a:r>
              <a:rPr sz="1050">
                <a:solidFill>
                  <a:srgbClr val="1F2937"/>
                </a:solidFill>
                <a:latin typeface="Aptos"/>
              </a:rPr>
              <a:t/>
            </a:r>
          </a:p>
          <a:p>
            <a:pPr algn="l"/>
            <a:r>
              <a:rPr sz="1050">
                <a:solidFill>
                  <a:srgbClr val="1F2937"/>
                </a:solidFill>
                <a:latin typeface="Aptos"/>
              </a:rPr>
              <a:t>`harness_config/`</a:t>
            </a:r>
          </a:p>
          <a:p>
            <a:pPr algn="l"/>
            <a:r>
              <a:rPr sz="1050">
                <a:solidFill>
                  <a:srgbClr val="1F2937"/>
                </a:solidFill>
                <a:latin typeface="Aptos"/>
              </a:rPr>
              <a:t>Versioned harness JSON.</a:t>
            </a:r>
          </a:p>
          <a:p>
            <a:pPr algn="l"/>
            <a:r>
              <a:rPr sz="1050">
                <a:solidFill>
                  <a:srgbClr val="1F2937"/>
                </a:solidFill>
                <a:latin typeface="Aptos"/>
              </a:rPr>
              <a:t/>
            </a:r>
          </a:p>
          <a:p>
            <a:pPr algn="l"/>
            <a:r>
              <a:rPr sz="1050">
                <a:solidFill>
                  <a:srgbClr val="1F2937"/>
                </a:solidFill>
                <a:latin typeface="Aptos"/>
              </a:rPr>
              <a:t>`memory/episodic` and `memory/semantic`</a:t>
            </a:r>
          </a:p>
          <a:p>
            <a:pPr algn="l"/>
            <a:r>
              <a:rPr sz="1050">
                <a:solidFill>
                  <a:srgbClr val="1F2937"/>
                </a:solidFill>
                <a:latin typeface="Aptos"/>
              </a:rPr>
              <a:t>Learned context.</a:t>
            </a:r>
          </a:p>
          <a:p>
            <a:pPr algn="l"/>
            <a:r>
              <a:rPr sz="1050">
                <a:solidFill>
                  <a:srgbClr val="1F2937"/>
                </a:solidFill>
                <a:latin typeface="Aptos"/>
              </a:rPr>
              <a:t/>
            </a:r>
          </a:p>
          <a:p>
            <a:pPr algn="l"/>
            <a:r>
              <a:rPr sz="1050">
                <a:solidFill>
                  <a:srgbClr val="1F2937"/>
                </a:solidFill>
                <a:latin typeface="Aptos"/>
              </a:rPr>
              <a:t>`skills/`</a:t>
            </a:r>
          </a:p>
          <a:p>
            <a:pPr algn="l"/>
            <a:r>
              <a:rPr sz="1050">
                <a:solidFill>
                  <a:srgbClr val="1F2937"/>
                </a:solidFill>
                <a:latin typeface="Aptos"/>
              </a:rPr>
              <a:t>Generated SKILL.md patterns.</a:t>
            </a:r>
          </a:p>
          <a:p>
            <a:pPr algn="l"/>
            <a:r>
              <a:rPr sz="1050">
                <a:solidFill>
                  <a:srgbClr val="1F2937"/>
                </a:solidFill>
                <a:latin typeface="Aptos"/>
              </a:rPr>
              <a:t/>
            </a:r>
          </a:p>
          <a:p>
            <a:pPr algn="l"/>
            <a:r>
              <a:rPr sz="1050">
                <a:solidFill>
                  <a:srgbClr val="1F2937"/>
                </a:solidFill>
                <a:latin typeface="Aptos"/>
              </a:rPr>
              <a:t>`evolution_state/run_log.jsonl`</a:t>
            </a:r>
          </a:p>
          <a:p>
            <a:pPr algn="l"/>
            <a:r>
              <a:rPr sz="1050">
                <a:solidFill>
                  <a:srgbClr val="1F2937"/>
                </a:solidFill>
                <a:latin typeface="Aptos"/>
              </a:rPr>
              <a:t>Queue of evidence for the daemon.</a:t>
            </a:r>
          </a:p>
          <a:p>
            <a:pPr algn="l"/>
            <a:r>
              <a:rPr sz="1050">
                <a:solidFill>
                  <a:srgbClr val="1F2937"/>
                </a:solidFill>
                <a:latin typeface="Aptos"/>
              </a:rPr>
              <a:t/>
            </a:r>
          </a:p>
          <a:p>
            <a:pPr algn="l"/>
            <a:r>
              <a:rPr sz="1050">
                <a:solidFill>
                  <a:srgbClr val="1F2937"/>
                </a:solidFill>
                <a:latin typeface="Aptos"/>
              </a:rPr>
              <a:t>`traces/`</a:t>
            </a:r>
          </a:p>
          <a:p>
            <a:pPr algn="l"/>
            <a:r>
              <a:rPr sz="1050">
                <a:solidFill>
                  <a:srgbClr val="1F2937"/>
                </a:solidFill>
                <a:latin typeface="Aptos"/>
              </a:rPr>
              <a:t>Local fallback trace store.</a:t>
            </a:r>
          </a:p>
        </p:txBody>
      </p:sp>
      <p:sp>
        <p:nvSpPr>
          <p:cNvPr id="12" name="TextBox 11"/>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These directories are the durable memory of the system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References</a:t>
            </a:r>
          </a:p>
          <a:p>
            <a:r>
              <a:rPr sz="1200">
                <a:solidFill>
                  <a:srgbClr val="4C5B6A"/>
                </a:solidFill>
                <a:latin typeface="Aptos"/>
              </a:rPr>
              <a:t>Primary design influences and repository documentation used for this deck.</a:t>
            </a:r>
          </a:p>
        </p:txBody>
      </p:sp>
      <p:sp>
        <p:nvSpPr>
          <p:cNvPr id="3" name="Rounded Rectangle 2"/>
          <p:cNvSpPr/>
          <p:nvPr/>
        </p:nvSpPr>
        <p:spPr>
          <a:xfrm>
            <a:off x="731520" y="1463040"/>
            <a:ext cx="10789920" cy="4206240"/>
          </a:xfrm>
          <a:prstGeom prst="roundRect">
            <a:avLst/>
          </a:prstGeom>
          <a:solidFill>
            <a:srgbClr val="FFFFFF"/>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508760"/>
            <a:ext cx="1069848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Reference list</a:t>
            </a:r>
          </a:p>
        </p:txBody>
      </p:sp>
      <p:sp>
        <p:nvSpPr>
          <p:cNvPr id="5" name="TextBox 4"/>
          <p:cNvSpPr txBox="1"/>
          <p:nvPr/>
        </p:nvSpPr>
        <p:spPr>
          <a:xfrm>
            <a:off x="859536" y="1892808"/>
            <a:ext cx="10533888" cy="3730752"/>
          </a:xfrm>
          <a:prstGeom prst="rect">
            <a:avLst/>
          </a:prstGeom>
          <a:noFill/>
        </p:spPr>
        <p:txBody>
          <a:bodyPr wrap="square">
            <a:spAutoFit/>
          </a:bodyPr>
          <a:lstStyle/>
          <a:p>
            <a:pPr algn="l"/>
            <a:r>
              <a:rPr sz="1050">
                <a:solidFill>
                  <a:srgbClr val="1F2937"/>
                </a:solidFill>
                <a:latin typeface="Aptos"/>
              </a:rPr>
              <a:t>Repository docs: `architecture.md`, `README.md`, `docs/superpowers/specs/2026-04-05-evoagent-library-design.md`, `docs/superpowers/specs/2026-04-05-harness-improvements-design.md`</a:t>
            </a:r>
          </a:p>
          <a:p>
            <a:pPr algn="l"/>
            <a:r>
              <a:rPr sz="1050">
                <a:solidFill>
                  <a:srgbClr val="1F2937"/>
                </a:solidFill>
                <a:latin typeface="Aptos"/>
              </a:rPr>
              <a:t>Meta-Harness project page: https://yoonholee.com/meta-harness/</a:t>
            </a:r>
          </a:p>
          <a:p>
            <a:pPr algn="l"/>
            <a:r>
              <a:rPr sz="1050">
                <a:solidFill>
                  <a:srgbClr val="1F2937"/>
                </a:solidFill>
                <a:latin typeface="Aptos"/>
              </a:rPr>
              <a:t>LangChain blog, 'Continual learning for AI agents' (Apr 5, 2026): https://blog.langchain.com/continual-learning-for-ai-agents/</a:t>
            </a:r>
          </a:p>
          <a:p>
            <a:pPr algn="l"/>
            <a:r>
              <a:rPr sz="1050">
                <a:solidFill>
                  <a:srgbClr val="1F2937"/>
                </a:solidFill>
                <a:latin typeface="Aptos"/>
              </a:rPr>
              <a:t>karpathy/autoresearch repository: https://github.com/karpathy/autoresearch</a:t>
            </a:r>
          </a:p>
          <a:p>
            <a:pPr algn="l"/>
            <a:r>
              <a:rPr sz="1050">
                <a:solidFill>
                  <a:srgbClr val="1F2937"/>
                </a:solidFill>
                <a:latin typeface="Aptos"/>
              </a:rPr>
              <a:t>LangSmith traces are integrated via `src/tracing/fetcher.py` and are referenced throughout the optimization loop.</a:t>
            </a:r>
          </a:p>
        </p:txBody>
      </p:sp>
      <p:sp>
        <p:nvSpPr>
          <p:cNvPr id="6" name="Rounded Rectangle 5"/>
          <p:cNvSpPr/>
          <p:nvPr/>
        </p:nvSpPr>
        <p:spPr>
          <a:xfrm>
            <a:off x="2971800" y="5897880"/>
            <a:ext cx="6172200" cy="411480"/>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Deck generator: `scripts/generate_architecture_pptx.py`</a:t>
            </a:r>
          </a:p>
        </p:txBody>
      </p:sp>
      <p:sp>
        <p:nvSpPr>
          <p:cNvPr id="7" name="TextBox 6"/>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Generated PowerPoint output: docs/self_improving_agent_architecture.pptx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